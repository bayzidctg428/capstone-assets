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
      <p:font typeface="Montserrat"/>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F5981C-5A20-4A61-B182-B1B5E012071A}">
  <a:tblStyle styleId="{63F5981C-5A20-4A61-B182-B1B5E012071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42528d4b8_0_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42528d4b8_0_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427bb8a0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427bb8a0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427bb8a0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427bb8a0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427bb8a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427bb8a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42528d4b8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42528d4b8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642528d4b8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642528d4b8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642528d4b8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642528d4b8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642528d4b8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642528d4b8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642528d4b8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642528d4b8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427bb8a0d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6427bb8a0d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427bb8a0d_6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427bb8a0d_6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6427bb8a0d_6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6427bb8a0d_6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6427bb8a0d_6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6427bb8a0d_6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6427bb8a0d_6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6427bb8a0d_6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6427bb8a0d_6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6427bb8a0d_6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6427bb8a0d_6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6427bb8a0d_6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427bb8a0d_6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427bb8a0d_6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642528d4b8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642528d4b8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6427bb8a0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6427bb8a0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6427bb8a0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6427bb8a0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427bb8a0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427bb8a0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70900" y="934150"/>
            <a:ext cx="5331600" cy="263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t>A </a:t>
            </a:r>
            <a:r>
              <a:rPr lang="en" sz="3400"/>
              <a:t>multilingual</a:t>
            </a:r>
            <a:r>
              <a:rPr lang="en" sz="3400"/>
              <a:t> hate speech detection using machine learning and deep learning model</a:t>
            </a:r>
            <a:endParaRPr sz="3400"/>
          </a:p>
          <a:p>
            <a:pPr indent="0" lvl="0" marL="0" rtl="0" algn="l">
              <a:spcBef>
                <a:spcPts val="0"/>
              </a:spcBef>
              <a:spcAft>
                <a:spcPts val="0"/>
              </a:spcAft>
              <a:buNone/>
            </a:pPr>
            <a:r>
              <a:t/>
            </a:r>
            <a:endParaRPr sz="3400"/>
          </a:p>
          <a:p>
            <a:pPr indent="0" lvl="0" marL="0" rtl="0" algn="l">
              <a:spcBef>
                <a:spcPts val="0"/>
              </a:spcBef>
              <a:spcAft>
                <a:spcPts val="0"/>
              </a:spcAft>
              <a:buSzPts val="990"/>
              <a:buNone/>
            </a:pPr>
            <a:r>
              <a:t/>
            </a:r>
            <a:endParaRPr sz="3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nvSpPr>
        <p:spPr>
          <a:xfrm>
            <a:off x="587750" y="309150"/>
            <a:ext cx="3700500" cy="452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700" u="sng">
              <a:solidFill>
                <a:schemeClr val="lt1"/>
              </a:solidFill>
              <a:latin typeface="Lato"/>
              <a:ea typeface="Lato"/>
              <a:cs typeface="Lato"/>
              <a:sym typeface="Lato"/>
            </a:endParaRPr>
          </a:p>
          <a:p>
            <a:pPr indent="0" lvl="0" marL="0" rtl="0" algn="l">
              <a:spcBef>
                <a:spcPts val="0"/>
              </a:spcBef>
              <a:spcAft>
                <a:spcPts val="0"/>
              </a:spcAft>
              <a:buNone/>
            </a:pPr>
            <a:r>
              <a:t/>
            </a:r>
            <a:endParaRPr b="1" sz="1700" u="sng">
              <a:solidFill>
                <a:schemeClr val="lt1"/>
              </a:solidFill>
              <a:latin typeface="Lato"/>
              <a:ea typeface="Lato"/>
              <a:cs typeface="Lato"/>
              <a:sym typeface="Lato"/>
            </a:endParaRPr>
          </a:p>
          <a:p>
            <a:pPr indent="0" lvl="0" marL="0" rtl="0" algn="l">
              <a:spcBef>
                <a:spcPts val="0"/>
              </a:spcBef>
              <a:spcAft>
                <a:spcPts val="0"/>
              </a:spcAft>
              <a:buNone/>
            </a:pPr>
            <a:r>
              <a:rPr b="1" lang="en" sz="1700" u="sng">
                <a:solidFill>
                  <a:schemeClr val="lt1"/>
                </a:solidFill>
                <a:latin typeface="Lato"/>
                <a:ea typeface="Lato"/>
                <a:cs typeface="Lato"/>
                <a:sym typeface="Lato"/>
              </a:rPr>
              <a:t>COURSE TEACHER</a:t>
            </a:r>
            <a:endParaRPr b="1" sz="1700" u="sng">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rPr lang="en" sz="1500">
                <a:solidFill>
                  <a:schemeClr val="lt1"/>
                </a:solidFill>
                <a:latin typeface="Lato"/>
                <a:ea typeface="Lato"/>
                <a:cs typeface="Lato"/>
                <a:sym typeface="Lato"/>
              </a:rPr>
              <a:t>Mr M M Fazle Rabbi</a:t>
            </a:r>
            <a:endParaRPr sz="1500">
              <a:solidFill>
                <a:schemeClr val="lt1"/>
              </a:solidFill>
              <a:latin typeface="Lato"/>
              <a:ea typeface="Lato"/>
              <a:cs typeface="Lato"/>
              <a:sym typeface="Lato"/>
            </a:endParaRPr>
          </a:p>
          <a:p>
            <a:pPr indent="0" lvl="0" marL="0" rtl="0" algn="l">
              <a:spcBef>
                <a:spcPts val="0"/>
              </a:spcBef>
              <a:spcAft>
                <a:spcPts val="0"/>
              </a:spcAft>
              <a:buNone/>
            </a:pPr>
            <a:r>
              <a:rPr lang="en" sz="1500">
                <a:solidFill>
                  <a:schemeClr val="lt1"/>
                </a:solidFill>
                <a:latin typeface="Lato"/>
                <a:ea typeface="Lato"/>
                <a:cs typeface="Lato"/>
                <a:sym typeface="Lato"/>
              </a:rPr>
              <a:t>Department of Computer Science and Engineering(CSE)</a:t>
            </a:r>
            <a:endParaRPr sz="1500">
              <a:solidFill>
                <a:schemeClr val="lt1"/>
              </a:solidFill>
              <a:latin typeface="Lato"/>
              <a:ea typeface="Lato"/>
              <a:cs typeface="Lato"/>
              <a:sym typeface="Lato"/>
            </a:endParaRPr>
          </a:p>
          <a:p>
            <a:pPr indent="0" lvl="0" marL="0" rtl="0" algn="l">
              <a:spcBef>
                <a:spcPts val="0"/>
              </a:spcBef>
              <a:spcAft>
                <a:spcPts val="0"/>
              </a:spcAft>
              <a:buNone/>
            </a:pPr>
            <a:r>
              <a:t/>
            </a:r>
            <a:endParaRPr sz="1500">
              <a:solidFill>
                <a:schemeClr val="lt1"/>
              </a:solidFill>
              <a:latin typeface="Lato"/>
              <a:ea typeface="Lato"/>
              <a:cs typeface="Lato"/>
              <a:sym typeface="Lato"/>
            </a:endParaRPr>
          </a:p>
          <a:p>
            <a:pPr indent="0" lvl="0" marL="0" rtl="0" algn="l">
              <a:spcBef>
                <a:spcPts val="0"/>
              </a:spcBef>
              <a:spcAft>
                <a:spcPts val="0"/>
              </a:spcAft>
              <a:buNone/>
            </a:pPr>
            <a:r>
              <a:t/>
            </a:r>
            <a:endParaRPr sz="1500">
              <a:solidFill>
                <a:schemeClr val="lt1"/>
              </a:solidFill>
              <a:latin typeface="Lato"/>
              <a:ea typeface="Lato"/>
              <a:cs typeface="Lato"/>
              <a:sym typeface="Lato"/>
            </a:endParaRPr>
          </a:p>
          <a:p>
            <a:pPr indent="0" lvl="0" marL="0" rtl="0" algn="l">
              <a:spcBef>
                <a:spcPts val="0"/>
              </a:spcBef>
              <a:spcAft>
                <a:spcPts val="0"/>
              </a:spcAft>
              <a:buNone/>
            </a:pPr>
            <a:r>
              <a:rPr b="1" lang="en" sz="1600" u="sng">
                <a:solidFill>
                  <a:schemeClr val="lt1"/>
                </a:solidFill>
                <a:latin typeface="Lato"/>
                <a:ea typeface="Lato"/>
                <a:cs typeface="Lato"/>
                <a:sym typeface="Lato"/>
              </a:rPr>
              <a:t>PROJECT SUPERVISOR</a:t>
            </a:r>
            <a:br>
              <a:rPr lang="en" sz="1300">
                <a:solidFill>
                  <a:schemeClr val="lt1"/>
                </a:solidFill>
                <a:latin typeface="Lato"/>
                <a:ea typeface="Lato"/>
                <a:cs typeface="Lato"/>
                <a:sym typeface="Lato"/>
              </a:rPr>
            </a:br>
            <a:endParaRPr sz="1300">
              <a:solidFill>
                <a:schemeClr val="lt1"/>
              </a:solidFill>
              <a:latin typeface="Lato"/>
              <a:ea typeface="Lato"/>
              <a:cs typeface="Lato"/>
              <a:sym typeface="Lato"/>
            </a:endParaRPr>
          </a:p>
          <a:p>
            <a:pPr indent="0" lvl="0" marL="0" rtl="0" algn="l">
              <a:spcBef>
                <a:spcPts val="0"/>
              </a:spcBef>
              <a:spcAft>
                <a:spcPts val="0"/>
              </a:spcAft>
              <a:buNone/>
            </a:pPr>
            <a:r>
              <a:rPr lang="en" sz="1500">
                <a:solidFill>
                  <a:schemeClr val="lt1"/>
                </a:solidFill>
                <a:latin typeface="Lato"/>
                <a:ea typeface="Lato"/>
                <a:cs typeface="Lato"/>
                <a:sym typeface="Lato"/>
              </a:rPr>
              <a:t>Mr.Md. Ashiqur Rahman</a:t>
            </a:r>
            <a:endParaRPr sz="1500">
              <a:solidFill>
                <a:schemeClr val="lt1"/>
              </a:solidFill>
              <a:latin typeface="Lato"/>
              <a:ea typeface="Lato"/>
              <a:cs typeface="Lato"/>
              <a:sym typeface="Lato"/>
            </a:endParaRPr>
          </a:p>
          <a:p>
            <a:pPr indent="0" lvl="0" marL="0" rtl="0" algn="l">
              <a:spcBef>
                <a:spcPts val="0"/>
              </a:spcBef>
              <a:spcAft>
                <a:spcPts val="0"/>
              </a:spcAft>
              <a:buNone/>
            </a:pPr>
            <a:r>
              <a:rPr lang="en" sz="1500">
                <a:solidFill>
                  <a:schemeClr val="lt1"/>
                </a:solidFill>
                <a:latin typeface="Lato"/>
                <a:ea typeface="Lato"/>
                <a:cs typeface="Lato"/>
                <a:sym typeface="Lato"/>
              </a:rPr>
              <a:t>Assistant Professor</a:t>
            </a:r>
            <a:endParaRPr sz="1500">
              <a:solidFill>
                <a:schemeClr val="lt1"/>
              </a:solidFill>
              <a:latin typeface="Lato"/>
              <a:ea typeface="Lato"/>
              <a:cs typeface="Lato"/>
              <a:sym typeface="Lato"/>
            </a:endParaRPr>
          </a:p>
          <a:p>
            <a:pPr indent="0" lvl="0" marL="0" rtl="0" algn="l">
              <a:spcBef>
                <a:spcPts val="0"/>
              </a:spcBef>
              <a:spcAft>
                <a:spcPts val="0"/>
              </a:spcAft>
              <a:buNone/>
            </a:pPr>
            <a:r>
              <a:rPr lang="en" sz="1500">
                <a:solidFill>
                  <a:schemeClr val="lt1"/>
                </a:solidFill>
                <a:latin typeface="Lato"/>
                <a:ea typeface="Lato"/>
                <a:cs typeface="Lato"/>
                <a:sym typeface="Lato"/>
              </a:rPr>
              <a:t>Department of Computer Science and</a:t>
            </a:r>
            <a:endParaRPr sz="1500">
              <a:solidFill>
                <a:schemeClr val="lt1"/>
              </a:solidFill>
              <a:latin typeface="Lato"/>
              <a:ea typeface="Lato"/>
              <a:cs typeface="Lato"/>
              <a:sym typeface="Lato"/>
            </a:endParaRPr>
          </a:p>
          <a:p>
            <a:pPr indent="0" lvl="0" marL="0" rtl="0" algn="l">
              <a:spcBef>
                <a:spcPts val="0"/>
              </a:spcBef>
              <a:spcAft>
                <a:spcPts val="0"/>
              </a:spcAft>
              <a:buNone/>
            </a:pPr>
            <a:r>
              <a:rPr lang="en" sz="1500">
                <a:solidFill>
                  <a:schemeClr val="lt1"/>
                </a:solidFill>
                <a:latin typeface="Lato"/>
                <a:ea typeface="Lato"/>
                <a:cs typeface="Lato"/>
                <a:sym typeface="Lato"/>
              </a:rPr>
              <a:t>Engineering(CSE)</a:t>
            </a:r>
            <a:endParaRPr sz="1500">
              <a:solidFill>
                <a:schemeClr val="lt1"/>
              </a:solidFill>
              <a:latin typeface="Lato"/>
              <a:ea typeface="Lato"/>
              <a:cs typeface="Lato"/>
              <a:sym typeface="Lato"/>
            </a:endParaRPr>
          </a:p>
          <a:p>
            <a:pPr indent="0" lvl="0" marL="0" rtl="0" algn="l">
              <a:spcBef>
                <a:spcPts val="0"/>
              </a:spcBef>
              <a:spcAft>
                <a:spcPts val="0"/>
              </a:spcAft>
              <a:buNone/>
            </a:pPr>
            <a:r>
              <a:t/>
            </a:r>
            <a:endParaRPr sz="15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40" name="Google Shape;140;p14"/>
          <p:cNvSpPr txBox="1"/>
          <p:nvPr/>
        </p:nvSpPr>
        <p:spPr>
          <a:xfrm>
            <a:off x="6043900" y="1643225"/>
            <a:ext cx="3117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
        <p:nvSpPr>
          <p:cNvPr id="141" name="Google Shape;141;p14"/>
          <p:cNvSpPr txBox="1"/>
          <p:nvPr/>
        </p:nvSpPr>
        <p:spPr>
          <a:xfrm>
            <a:off x="4827325" y="733675"/>
            <a:ext cx="31626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u="sng">
                <a:solidFill>
                  <a:schemeClr val="lt1"/>
                </a:solidFill>
                <a:latin typeface="Lato"/>
                <a:ea typeface="Lato"/>
                <a:cs typeface="Lato"/>
                <a:sym typeface="Lato"/>
              </a:rPr>
              <a:t>TEAM  MEMBERS</a:t>
            </a:r>
            <a:endParaRPr b="1" sz="1600" u="sng">
              <a:solidFill>
                <a:schemeClr val="lt1"/>
              </a:solidFill>
              <a:latin typeface="Lato"/>
              <a:ea typeface="Lato"/>
              <a:cs typeface="Lato"/>
              <a:sym typeface="Lato"/>
            </a:endParaRPr>
          </a:p>
          <a:p>
            <a:pPr indent="0" lvl="0" marL="0" rtl="0" algn="l">
              <a:spcBef>
                <a:spcPts val="0"/>
              </a:spcBef>
              <a:spcAft>
                <a:spcPts val="0"/>
              </a:spcAft>
              <a:buNone/>
            </a:pPr>
            <a:r>
              <a:t/>
            </a:r>
            <a:endParaRPr b="1" sz="1600" u="sng">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Mosfeq Ahamed Nayim</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ID: 19203103057; 45/02 </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Bayzid Simon Sarkar</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ID: 19203103082; 45/02 </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Sumiya Hossain Niha</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ID: 19203103065; 45/02 </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Md. Riyad Hossain</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ID: 19203103102; 45/02 </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Mst. Kanij Fatema</a:t>
            </a:r>
            <a:endParaRPr sz="1600">
              <a:solidFill>
                <a:schemeClr val="lt1"/>
              </a:solidFill>
              <a:latin typeface="Lato"/>
              <a:ea typeface="Lato"/>
              <a:cs typeface="Lato"/>
              <a:sym typeface="Lato"/>
            </a:endParaRPr>
          </a:p>
          <a:p>
            <a:pPr indent="0" lvl="0" marL="0" rtl="0" algn="just">
              <a:spcBef>
                <a:spcPts val="0"/>
              </a:spcBef>
              <a:spcAft>
                <a:spcPts val="0"/>
              </a:spcAft>
              <a:buNone/>
            </a:pPr>
            <a:r>
              <a:rPr lang="en" sz="1600">
                <a:solidFill>
                  <a:schemeClr val="lt1"/>
                </a:solidFill>
                <a:latin typeface="Lato"/>
                <a:ea typeface="Lato"/>
                <a:cs typeface="Lato"/>
                <a:sym typeface="Lato"/>
              </a:rPr>
              <a:t>ID: 19203103103; 45/02 </a:t>
            </a:r>
            <a:endParaRPr sz="1600">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  </a:t>
            </a:r>
            <a:r>
              <a:rPr b="1" lang="en"/>
              <a:t>CONTENT</a:t>
            </a:r>
            <a:endParaRPr b="1"/>
          </a:p>
        </p:txBody>
      </p:sp>
      <p:sp>
        <p:nvSpPr>
          <p:cNvPr id="147" name="Google Shape;147;p15"/>
          <p:cNvSpPr txBox="1"/>
          <p:nvPr>
            <p:ph idx="1" type="body"/>
          </p:nvPr>
        </p:nvSpPr>
        <p:spPr>
          <a:xfrm>
            <a:off x="1498650" y="1307850"/>
            <a:ext cx="6837600" cy="3480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604"/>
              <a:t>1.Introduction</a:t>
            </a:r>
            <a:endParaRPr sz="1604"/>
          </a:p>
          <a:p>
            <a:pPr indent="0" lvl="0" marL="0" rtl="0" algn="l">
              <a:lnSpc>
                <a:spcPct val="95000"/>
              </a:lnSpc>
              <a:spcBef>
                <a:spcPts val="1200"/>
              </a:spcBef>
              <a:spcAft>
                <a:spcPts val="0"/>
              </a:spcAft>
              <a:buSzPts val="935"/>
              <a:buNone/>
            </a:pPr>
            <a:r>
              <a:rPr lang="en" sz="1604"/>
              <a:t>2.Motivation</a:t>
            </a:r>
            <a:endParaRPr sz="1604"/>
          </a:p>
          <a:p>
            <a:pPr indent="0" lvl="0" marL="0" rtl="0" algn="l">
              <a:lnSpc>
                <a:spcPct val="95000"/>
              </a:lnSpc>
              <a:spcBef>
                <a:spcPts val="1200"/>
              </a:spcBef>
              <a:spcAft>
                <a:spcPts val="0"/>
              </a:spcAft>
              <a:buSzPts val="935"/>
              <a:buNone/>
            </a:pPr>
            <a:r>
              <a:rPr lang="en" sz="1604"/>
              <a:t>3.Research Contribution</a:t>
            </a:r>
            <a:endParaRPr sz="1604"/>
          </a:p>
          <a:p>
            <a:pPr indent="0" lvl="0" marL="0" rtl="0" algn="l">
              <a:lnSpc>
                <a:spcPct val="95000"/>
              </a:lnSpc>
              <a:spcBef>
                <a:spcPts val="1200"/>
              </a:spcBef>
              <a:spcAft>
                <a:spcPts val="0"/>
              </a:spcAft>
              <a:buSzPts val="935"/>
              <a:buNone/>
            </a:pPr>
            <a:r>
              <a:rPr lang="en" sz="1604"/>
              <a:t>4</a:t>
            </a:r>
            <a:r>
              <a:rPr lang="en" sz="1604"/>
              <a:t>.Dataset of Bengali Language</a:t>
            </a:r>
            <a:endParaRPr sz="1604"/>
          </a:p>
          <a:p>
            <a:pPr indent="0" lvl="0" marL="0" rtl="0" algn="l">
              <a:lnSpc>
                <a:spcPct val="95000"/>
              </a:lnSpc>
              <a:spcBef>
                <a:spcPts val="1200"/>
              </a:spcBef>
              <a:spcAft>
                <a:spcPts val="0"/>
              </a:spcAft>
              <a:buSzPts val="935"/>
              <a:buNone/>
            </a:pPr>
            <a:r>
              <a:rPr lang="en" sz="1604"/>
              <a:t>5.Dataset of English Language</a:t>
            </a:r>
            <a:endParaRPr sz="1604"/>
          </a:p>
          <a:p>
            <a:pPr indent="0" lvl="0" marL="0" rtl="0" algn="l">
              <a:lnSpc>
                <a:spcPct val="95000"/>
              </a:lnSpc>
              <a:spcBef>
                <a:spcPts val="1200"/>
              </a:spcBef>
              <a:spcAft>
                <a:spcPts val="0"/>
              </a:spcAft>
              <a:buSzPts val="935"/>
              <a:buNone/>
            </a:pPr>
            <a:r>
              <a:rPr lang="en" sz="1604"/>
              <a:t>6.Summary Literature Review</a:t>
            </a:r>
            <a:endParaRPr sz="1604"/>
          </a:p>
          <a:p>
            <a:pPr indent="0" lvl="0" marL="0" rtl="0" algn="l">
              <a:lnSpc>
                <a:spcPct val="95000"/>
              </a:lnSpc>
              <a:spcBef>
                <a:spcPts val="1200"/>
              </a:spcBef>
              <a:spcAft>
                <a:spcPts val="0"/>
              </a:spcAft>
              <a:buSzPts val="935"/>
              <a:buNone/>
            </a:pPr>
            <a:r>
              <a:rPr lang="en" sz="1604"/>
              <a:t>7.Methodology</a:t>
            </a:r>
            <a:endParaRPr sz="1604"/>
          </a:p>
          <a:p>
            <a:pPr indent="0" lvl="0" marL="0" rtl="0" algn="l">
              <a:lnSpc>
                <a:spcPct val="95000"/>
              </a:lnSpc>
              <a:spcBef>
                <a:spcPts val="1200"/>
              </a:spcBef>
              <a:spcAft>
                <a:spcPts val="0"/>
              </a:spcAft>
              <a:buSzPts val="935"/>
              <a:buNone/>
            </a:pPr>
            <a:r>
              <a:rPr lang="en" sz="1604"/>
              <a:t>8.Data processing</a:t>
            </a:r>
            <a:endParaRPr sz="1604"/>
          </a:p>
          <a:p>
            <a:pPr indent="0" lvl="0" marL="0" rtl="0" algn="l">
              <a:lnSpc>
                <a:spcPct val="95000"/>
              </a:lnSpc>
              <a:spcBef>
                <a:spcPts val="1200"/>
              </a:spcBef>
              <a:spcAft>
                <a:spcPts val="1200"/>
              </a:spcAft>
              <a:buSzPts val="935"/>
              <a:buNone/>
            </a:pPr>
            <a:r>
              <a:rPr lang="en" sz="1604"/>
              <a:t>9.Conclusion</a:t>
            </a:r>
            <a:endParaRPr sz="1604"/>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551200" y="539650"/>
            <a:ext cx="2694900" cy="59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t>Introduction</a:t>
            </a:r>
            <a:endParaRPr b="1" sz="2800"/>
          </a:p>
        </p:txBody>
      </p:sp>
      <p:sp>
        <p:nvSpPr>
          <p:cNvPr id="153" name="Google Shape;153;p16"/>
          <p:cNvSpPr txBox="1"/>
          <p:nvPr>
            <p:ph idx="2" type="body"/>
          </p:nvPr>
        </p:nvSpPr>
        <p:spPr>
          <a:xfrm>
            <a:off x="1812925" y="1904200"/>
            <a:ext cx="5950800" cy="23559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Font typeface="Roboto"/>
              <a:buChar char="❖"/>
            </a:pPr>
            <a:r>
              <a:rPr b="1" lang="en" sz="1200">
                <a:latin typeface="Roboto"/>
                <a:ea typeface="Roboto"/>
                <a:cs typeface="Roboto"/>
                <a:sym typeface="Roboto"/>
              </a:rPr>
              <a:t>Global Hate Speech Solution:</a:t>
            </a:r>
            <a:endParaRPr b="1" sz="1200">
              <a:latin typeface="Roboto"/>
              <a:ea typeface="Roboto"/>
              <a:cs typeface="Roboto"/>
              <a:sym typeface="Roboto"/>
            </a:endParaRPr>
          </a:p>
          <a:p>
            <a:pPr indent="-304800" lvl="1" marL="914400" rtl="0" algn="l">
              <a:spcBef>
                <a:spcPts val="0"/>
              </a:spcBef>
              <a:spcAft>
                <a:spcPts val="0"/>
              </a:spcAft>
              <a:buSzPts val="1200"/>
              <a:buFont typeface="Roboto"/>
              <a:buChar char="➢"/>
            </a:pPr>
            <a:r>
              <a:rPr lang="en" sz="1200">
                <a:latin typeface="Roboto"/>
                <a:ea typeface="Roboto"/>
                <a:cs typeface="Roboto"/>
                <a:sym typeface="Roboto"/>
              </a:rPr>
              <a:t>Tackling hate speech on a global scale.</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b="1" lang="en" sz="1200">
                <a:latin typeface="Roboto"/>
                <a:ea typeface="Roboto"/>
                <a:cs typeface="Roboto"/>
                <a:sym typeface="Roboto"/>
              </a:rPr>
              <a:t>Advanced Technology Integration:</a:t>
            </a:r>
            <a:endParaRPr b="1" sz="1200">
              <a:latin typeface="Roboto"/>
              <a:ea typeface="Roboto"/>
              <a:cs typeface="Roboto"/>
              <a:sym typeface="Roboto"/>
            </a:endParaRPr>
          </a:p>
          <a:p>
            <a:pPr indent="-304800" lvl="1" marL="914400" rtl="0" algn="l">
              <a:spcBef>
                <a:spcPts val="0"/>
              </a:spcBef>
              <a:spcAft>
                <a:spcPts val="0"/>
              </a:spcAft>
              <a:buSzPts val="1200"/>
              <a:buFont typeface="Roboto"/>
              <a:buChar char="➢"/>
            </a:pPr>
            <a:r>
              <a:rPr lang="en" sz="1200">
                <a:latin typeface="Roboto"/>
                <a:ea typeface="Roboto"/>
                <a:cs typeface="Roboto"/>
                <a:sym typeface="Roboto"/>
              </a:rPr>
              <a:t>Using machine and deep learning for effective detection.</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b="1" lang="en" sz="1200">
                <a:latin typeface="Roboto"/>
                <a:ea typeface="Roboto"/>
                <a:cs typeface="Roboto"/>
                <a:sym typeface="Roboto"/>
              </a:rPr>
              <a:t>Inclusive Online Environments:</a:t>
            </a:r>
            <a:endParaRPr b="1" sz="1200">
              <a:latin typeface="Roboto"/>
              <a:ea typeface="Roboto"/>
              <a:cs typeface="Roboto"/>
              <a:sym typeface="Roboto"/>
            </a:endParaRPr>
          </a:p>
          <a:p>
            <a:pPr indent="-304800" lvl="1" marL="914400" rtl="0" algn="l">
              <a:spcBef>
                <a:spcPts val="0"/>
              </a:spcBef>
              <a:spcAft>
                <a:spcPts val="0"/>
              </a:spcAft>
              <a:buSzPts val="1200"/>
              <a:buFont typeface="Roboto"/>
              <a:buChar char="➢"/>
            </a:pPr>
            <a:r>
              <a:rPr lang="en" sz="1200">
                <a:latin typeface="Roboto"/>
                <a:ea typeface="Roboto"/>
                <a:cs typeface="Roboto"/>
                <a:sym typeface="Roboto"/>
              </a:rPr>
              <a:t>Developing a smart system to enhance safety and inclusivity.</a:t>
            </a:r>
            <a:endParaRPr sz="1200">
              <a:latin typeface="Roboto"/>
              <a:ea typeface="Roboto"/>
              <a:cs typeface="Roboto"/>
              <a:sym typeface="Roboto"/>
            </a:endParaRPr>
          </a:p>
          <a:p>
            <a:pPr indent="0" lvl="0" marL="457200" rtl="0" algn="l">
              <a:spcBef>
                <a:spcPts val="0"/>
              </a:spcBef>
              <a:spcAft>
                <a:spcPts val="1200"/>
              </a:spcAft>
              <a:buNone/>
            </a:pPr>
            <a:r>
              <a:t/>
            </a:r>
            <a:endParaRPr sz="12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t>Motivation</a:t>
            </a:r>
            <a:endParaRPr b="1" sz="3300"/>
          </a:p>
        </p:txBody>
      </p:sp>
      <p:sp>
        <p:nvSpPr>
          <p:cNvPr id="159" name="Google Shape;159;p17"/>
          <p:cNvSpPr txBox="1"/>
          <p:nvPr>
            <p:ph idx="1" type="body"/>
          </p:nvPr>
        </p:nvSpPr>
        <p:spPr>
          <a:xfrm>
            <a:off x="1297500" y="1567550"/>
            <a:ext cx="6570000" cy="2949600"/>
          </a:xfrm>
          <a:prstGeom prst="rect">
            <a:avLst/>
          </a:prstGeom>
        </p:spPr>
        <p:txBody>
          <a:bodyPr anchorCtr="0" anchor="t" bIns="91425" lIns="91425" spcFirstLastPara="1" rIns="91425" wrap="square" tIns="91425">
            <a:normAutofit fontScale="85000" lnSpcReduction="20000"/>
          </a:bodyPr>
          <a:lstStyle/>
          <a:p>
            <a:pPr indent="-305040" lvl="0" marL="457200" rtl="0" algn="l">
              <a:spcBef>
                <a:spcPts val="0"/>
              </a:spcBef>
              <a:spcAft>
                <a:spcPts val="0"/>
              </a:spcAft>
              <a:buClr>
                <a:srgbClr val="D1D5DB"/>
              </a:buClr>
              <a:buSzPct val="100000"/>
              <a:buFont typeface="Roboto"/>
              <a:buChar char="❏"/>
            </a:pPr>
            <a:r>
              <a:rPr lang="en" sz="1416">
                <a:solidFill>
                  <a:srgbClr val="D1D5DB"/>
                </a:solidFill>
                <a:highlight>
                  <a:schemeClr val="dk1"/>
                </a:highlight>
                <a:latin typeface="Roboto"/>
                <a:ea typeface="Roboto"/>
                <a:cs typeface="Roboto"/>
                <a:sym typeface="Roboto"/>
              </a:rPr>
              <a:t>Fostering a safer online environment for users worldwide, regardless of language.</a:t>
            </a:r>
            <a:endParaRPr sz="1416">
              <a:solidFill>
                <a:srgbClr val="D1D5DB"/>
              </a:solidFill>
              <a:highlight>
                <a:schemeClr val="dk1"/>
              </a:highlight>
              <a:latin typeface="Roboto"/>
              <a:ea typeface="Roboto"/>
              <a:cs typeface="Roboto"/>
              <a:sym typeface="Roboto"/>
            </a:endParaRPr>
          </a:p>
          <a:p>
            <a:pPr indent="0" lvl="0" marL="457200" rtl="0" algn="l">
              <a:spcBef>
                <a:spcPts val="1200"/>
              </a:spcBef>
              <a:spcAft>
                <a:spcPts val="0"/>
              </a:spcAft>
              <a:buNone/>
            </a:pPr>
            <a:r>
              <a:t/>
            </a:r>
            <a:endParaRPr sz="1200">
              <a:solidFill>
                <a:srgbClr val="D1D5DB"/>
              </a:solidFill>
              <a:highlight>
                <a:schemeClr val="dk1"/>
              </a:highlight>
              <a:latin typeface="Roboto"/>
              <a:ea typeface="Roboto"/>
              <a:cs typeface="Roboto"/>
              <a:sym typeface="Roboto"/>
            </a:endParaRPr>
          </a:p>
          <a:p>
            <a:pPr indent="-305040" lvl="0" marL="457200" rtl="0" algn="l">
              <a:spcBef>
                <a:spcPts val="1200"/>
              </a:spcBef>
              <a:spcAft>
                <a:spcPts val="0"/>
              </a:spcAft>
              <a:buClr>
                <a:srgbClr val="D1D5DB"/>
              </a:buClr>
              <a:buSzPct val="100000"/>
              <a:buFont typeface="Roboto"/>
              <a:buChar char="❏"/>
            </a:pPr>
            <a:r>
              <a:rPr lang="en" sz="1416">
                <a:solidFill>
                  <a:srgbClr val="D1D5DB"/>
                </a:solidFill>
                <a:highlight>
                  <a:schemeClr val="dk1"/>
                </a:highlight>
                <a:latin typeface="Roboto"/>
                <a:ea typeface="Roboto"/>
                <a:cs typeface="Roboto"/>
                <a:sym typeface="Roboto"/>
              </a:rPr>
              <a:t>Minimizing the international propagation of hate speech through various languages.</a:t>
            </a:r>
            <a:endParaRPr sz="1416">
              <a:solidFill>
                <a:srgbClr val="D1D5DB"/>
              </a:solidFill>
              <a:highlight>
                <a:schemeClr val="dk1"/>
              </a:highlight>
              <a:latin typeface="Roboto"/>
              <a:ea typeface="Roboto"/>
              <a:cs typeface="Roboto"/>
              <a:sym typeface="Roboto"/>
            </a:endParaRPr>
          </a:p>
          <a:p>
            <a:pPr indent="0" lvl="0" marL="457200" rtl="0" algn="l">
              <a:spcBef>
                <a:spcPts val="1200"/>
              </a:spcBef>
              <a:spcAft>
                <a:spcPts val="0"/>
              </a:spcAft>
              <a:buNone/>
            </a:pPr>
            <a:r>
              <a:t/>
            </a:r>
            <a:endParaRPr sz="1200">
              <a:solidFill>
                <a:srgbClr val="D1D5DB"/>
              </a:solidFill>
              <a:highlight>
                <a:schemeClr val="dk1"/>
              </a:highlight>
              <a:latin typeface="Roboto"/>
              <a:ea typeface="Roboto"/>
              <a:cs typeface="Roboto"/>
              <a:sym typeface="Roboto"/>
            </a:endParaRPr>
          </a:p>
          <a:p>
            <a:pPr indent="-311905" lvl="0" marL="457200" rtl="0" algn="l">
              <a:spcBef>
                <a:spcPts val="1200"/>
              </a:spcBef>
              <a:spcAft>
                <a:spcPts val="0"/>
              </a:spcAft>
              <a:buClr>
                <a:srgbClr val="D1D5DB"/>
              </a:buClr>
              <a:buSzPct val="100000"/>
              <a:buFont typeface="Roboto"/>
              <a:buChar char="❏"/>
            </a:pPr>
            <a:r>
              <a:rPr lang="en" sz="1543">
                <a:solidFill>
                  <a:srgbClr val="D1D5DB"/>
                </a:solidFill>
                <a:highlight>
                  <a:schemeClr val="dk1"/>
                </a:highlight>
                <a:latin typeface="Roboto"/>
                <a:ea typeface="Roboto"/>
                <a:cs typeface="Roboto"/>
                <a:sym typeface="Roboto"/>
              </a:rPr>
              <a:t>Upholding cultural sensitivity by understanding diverse linguistic contexts.</a:t>
            </a:r>
            <a:endParaRPr sz="1543">
              <a:solidFill>
                <a:srgbClr val="D1D5DB"/>
              </a:solidFill>
              <a:highlight>
                <a:schemeClr val="dk1"/>
              </a:highlight>
              <a:latin typeface="Roboto"/>
              <a:ea typeface="Roboto"/>
              <a:cs typeface="Roboto"/>
              <a:sym typeface="Roboto"/>
            </a:endParaRPr>
          </a:p>
          <a:p>
            <a:pPr indent="0" lvl="0" marL="457200" rtl="0" algn="l">
              <a:spcBef>
                <a:spcPts val="1200"/>
              </a:spcBef>
              <a:spcAft>
                <a:spcPts val="0"/>
              </a:spcAft>
              <a:buNone/>
            </a:pPr>
            <a:r>
              <a:t/>
            </a:r>
            <a:endParaRPr sz="1200">
              <a:solidFill>
                <a:srgbClr val="D1D5DB"/>
              </a:solidFill>
              <a:highlight>
                <a:schemeClr val="dk1"/>
              </a:highlight>
              <a:latin typeface="Roboto"/>
              <a:ea typeface="Roboto"/>
              <a:cs typeface="Roboto"/>
              <a:sym typeface="Roboto"/>
            </a:endParaRPr>
          </a:p>
          <a:p>
            <a:pPr indent="-312419" lvl="0" marL="457200" rtl="0" algn="l">
              <a:spcBef>
                <a:spcPts val="1200"/>
              </a:spcBef>
              <a:spcAft>
                <a:spcPts val="0"/>
              </a:spcAft>
              <a:buClr>
                <a:srgbClr val="D1D5DB"/>
              </a:buClr>
              <a:buSzPct val="100000"/>
              <a:buFont typeface="Roboto"/>
              <a:buChar char="❏"/>
            </a:pPr>
            <a:r>
              <a:rPr lang="en" sz="1552">
                <a:solidFill>
                  <a:srgbClr val="D1D5DB"/>
                </a:solidFill>
                <a:highlight>
                  <a:schemeClr val="dk1"/>
                </a:highlight>
                <a:latin typeface="Roboto"/>
                <a:ea typeface="Roboto"/>
                <a:cs typeface="Roboto"/>
                <a:sym typeface="Roboto"/>
              </a:rPr>
              <a:t>Creating a more ethical and responsible digital ecosystem.</a:t>
            </a:r>
            <a:endParaRPr sz="1552">
              <a:solidFill>
                <a:srgbClr val="D1D5DB"/>
              </a:solidFill>
              <a:highlight>
                <a:schemeClr val="dk1"/>
              </a:highlight>
              <a:latin typeface="Roboto"/>
              <a:ea typeface="Roboto"/>
              <a:cs typeface="Roboto"/>
              <a:sym typeface="Roboto"/>
            </a:endParaRPr>
          </a:p>
          <a:p>
            <a:pPr indent="0" lvl="0" marL="457200" rtl="0" algn="l">
              <a:spcBef>
                <a:spcPts val="1200"/>
              </a:spcBef>
              <a:spcAft>
                <a:spcPts val="0"/>
              </a:spcAft>
              <a:buNone/>
            </a:pPr>
            <a:r>
              <a:t/>
            </a:r>
            <a:endParaRPr sz="1200">
              <a:solidFill>
                <a:srgbClr val="D1D5DB"/>
              </a:solidFill>
              <a:highlight>
                <a:schemeClr val="dk1"/>
              </a:highlight>
              <a:latin typeface="Roboto"/>
              <a:ea typeface="Roboto"/>
              <a:cs typeface="Roboto"/>
              <a:sym typeface="Roboto"/>
            </a:endParaRPr>
          </a:p>
          <a:p>
            <a:pPr indent="-312419" lvl="0" marL="457200" rtl="0" algn="l">
              <a:spcBef>
                <a:spcPts val="1200"/>
              </a:spcBef>
              <a:spcAft>
                <a:spcPts val="0"/>
              </a:spcAft>
              <a:buClr>
                <a:srgbClr val="D1D5DB"/>
              </a:buClr>
              <a:buSzPct val="100000"/>
              <a:buFont typeface="Roboto"/>
              <a:buChar char="❏"/>
            </a:pPr>
            <a:r>
              <a:rPr lang="en" sz="1552">
                <a:solidFill>
                  <a:srgbClr val="D1D5DB"/>
                </a:solidFill>
                <a:highlight>
                  <a:schemeClr val="dk1"/>
                </a:highlight>
                <a:latin typeface="Roboto"/>
                <a:ea typeface="Roboto"/>
                <a:cs typeface="Roboto"/>
                <a:sym typeface="Roboto"/>
              </a:rPr>
              <a:t>Encouraging diversity and unity within varied language communities.</a:t>
            </a:r>
            <a:endParaRPr sz="1552">
              <a:solidFill>
                <a:srgbClr val="D1D5DB"/>
              </a:solidFill>
              <a:highlight>
                <a:schemeClr val="dk1"/>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t>Research Contribution</a:t>
            </a:r>
            <a:endParaRPr b="1" sz="3300"/>
          </a:p>
        </p:txBody>
      </p:sp>
      <p:sp>
        <p:nvSpPr>
          <p:cNvPr id="165" name="Google Shape;165;p18"/>
          <p:cNvSpPr txBox="1"/>
          <p:nvPr>
            <p:ph idx="1" type="body"/>
          </p:nvPr>
        </p:nvSpPr>
        <p:spPr>
          <a:xfrm>
            <a:off x="1439550" y="1832000"/>
            <a:ext cx="6570900" cy="26469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en"/>
              <a:t>Collected English and Bengali language dataset from publicly available sources.</a:t>
            </a:r>
            <a:endParaRPr/>
          </a:p>
          <a:p>
            <a:pPr indent="0" lvl="0" marL="914400" rtl="0" algn="l">
              <a:spcBef>
                <a:spcPts val="1200"/>
              </a:spcBef>
              <a:spcAft>
                <a:spcPts val="0"/>
              </a:spcAft>
              <a:buNone/>
            </a:pPr>
            <a:r>
              <a:t/>
            </a:r>
            <a:endParaRPr/>
          </a:p>
          <a:p>
            <a:pPr indent="-311150" lvl="0" marL="457200" rtl="0" algn="l">
              <a:spcBef>
                <a:spcPts val="1200"/>
              </a:spcBef>
              <a:spcAft>
                <a:spcPts val="0"/>
              </a:spcAft>
              <a:buSzPts val="1300"/>
              <a:buChar char="❏"/>
            </a:pPr>
            <a:r>
              <a:rPr lang="en"/>
              <a:t>Combined the English and Bengali language datasets for multilingual hate speech detection purpose.</a:t>
            </a:r>
            <a:endParaRPr/>
          </a:p>
          <a:p>
            <a:pPr indent="0" lvl="0" marL="914400" rtl="0" algn="l">
              <a:spcBef>
                <a:spcPts val="1200"/>
              </a:spcBef>
              <a:spcAft>
                <a:spcPts val="0"/>
              </a:spcAft>
              <a:buNone/>
            </a:pPr>
            <a:r>
              <a:t/>
            </a:r>
            <a:endParaRPr/>
          </a:p>
          <a:p>
            <a:pPr indent="-311150" lvl="0" marL="457200" rtl="0" algn="l">
              <a:spcBef>
                <a:spcPts val="1200"/>
              </a:spcBef>
              <a:spcAft>
                <a:spcPts val="0"/>
              </a:spcAft>
              <a:buSzPts val="1300"/>
              <a:buChar char="❏"/>
            </a:pPr>
            <a:r>
              <a:rPr lang="en"/>
              <a:t>Tokenization of data.</a:t>
            </a:r>
            <a:endParaRPr/>
          </a:p>
          <a:p>
            <a:pPr indent="0" lvl="0" marL="914400" rtl="0" algn="l">
              <a:spcBef>
                <a:spcPts val="1200"/>
              </a:spcBef>
              <a:spcAft>
                <a:spcPts val="0"/>
              </a:spcAft>
              <a:buNone/>
            </a:pPr>
            <a:r>
              <a:t/>
            </a:r>
            <a:endParaRPr/>
          </a:p>
          <a:p>
            <a:pPr indent="-311150" lvl="0" marL="457200" rtl="0" algn="l">
              <a:spcBef>
                <a:spcPts val="1200"/>
              </a:spcBef>
              <a:spcAft>
                <a:spcPts val="0"/>
              </a:spcAft>
              <a:buSzPts val="1300"/>
              <a:buChar char="❏"/>
            </a:pPr>
            <a:r>
              <a:rPr lang="en"/>
              <a:t>Apply and evaluate different machine learning and deep learning model.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34365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Dataset of bengali Language</a:t>
            </a:r>
            <a:endParaRPr b="1"/>
          </a:p>
        </p:txBody>
      </p:sp>
      <p:sp>
        <p:nvSpPr>
          <p:cNvPr id="171" name="Google Shape;171;p19"/>
          <p:cNvSpPr txBox="1"/>
          <p:nvPr>
            <p:ph idx="1" type="body"/>
          </p:nvPr>
        </p:nvSpPr>
        <p:spPr>
          <a:xfrm>
            <a:off x="613525" y="1581425"/>
            <a:ext cx="2341200" cy="250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There are 30000 rows .</a:t>
            </a:r>
            <a:endParaRPr/>
          </a:p>
          <a:p>
            <a:pPr indent="0" lvl="0" marL="0" rtl="0" algn="l">
              <a:spcBef>
                <a:spcPts val="1200"/>
              </a:spcBef>
              <a:spcAft>
                <a:spcPts val="0"/>
              </a:spcAft>
              <a:buNone/>
            </a:pPr>
            <a:r>
              <a:rPr lang="en"/>
              <a:t>There are 3 columns,</a:t>
            </a:r>
            <a:endParaRPr/>
          </a:p>
          <a:p>
            <a:pPr indent="-311150" lvl="0" marL="457200" rtl="0" algn="l">
              <a:spcBef>
                <a:spcPts val="1200"/>
              </a:spcBef>
              <a:spcAft>
                <a:spcPts val="0"/>
              </a:spcAft>
              <a:buSzPts val="1300"/>
              <a:buChar char="❏"/>
            </a:pPr>
            <a:r>
              <a:rPr lang="en"/>
              <a:t>Sentence</a:t>
            </a:r>
            <a:endParaRPr/>
          </a:p>
          <a:p>
            <a:pPr indent="-311150" lvl="0" marL="457200" rtl="0" algn="l">
              <a:spcBef>
                <a:spcPts val="0"/>
              </a:spcBef>
              <a:spcAft>
                <a:spcPts val="0"/>
              </a:spcAft>
              <a:buSzPts val="1300"/>
              <a:buChar char="❏"/>
            </a:pPr>
            <a:r>
              <a:rPr lang="en"/>
              <a:t>Hate</a:t>
            </a:r>
            <a:endParaRPr/>
          </a:p>
          <a:p>
            <a:pPr indent="-311150" lvl="0" marL="457200" rtl="0" algn="l">
              <a:spcBef>
                <a:spcPts val="0"/>
              </a:spcBef>
              <a:spcAft>
                <a:spcPts val="0"/>
              </a:spcAft>
              <a:buSzPts val="1300"/>
              <a:buChar char="❏"/>
            </a:pPr>
            <a:r>
              <a:rPr lang="en"/>
              <a:t>Category</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72" name="Google Shape;172;p19"/>
          <p:cNvPicPr preferRelativeResize="0"/>
          <p:nvPr/>
        </p:nvPicPr>
        <p:blipFill>
          <a:blip r:embed="rId3">
            <a:alphaModFix/>
          </a:blip>
          <a:stretch>
            <a:fillRect/>
          </a:stretch>
        </p:blipFill>
        <p:spPr>
          <a:xfrm>
            <a:off x="3508775" y="1529325"/>
            <a:ext cx="4803624" cy="3106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idx="1" type="body"/>
          </p:nvPr>
        </p:nvSpPr>
        <p:spPr>
          <a:xfrm>
            <a:off x="605200" y="1480238"/>
            <a:ext cx="3641100" cy="297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Hate speech are divided into 7 categories.</a:t>
            </a:r>
            <a:endParaRPr/>
          </a:p>
          <a:p>
            <a:pPr indent="-311150" lvl="0" marL="457200" rtl="0" algn="l">
              <a:spcBef>
                <a:spcPts val="1200"/>
              </a:spcBef>
              <a:spcAft>
                <a:spcPts val="0"/>
              </a:spcAft>
              <a:buSzPts val="1300"/>
              <a:buChar char="❏"/>
            </a:pPr>
            <a:r>
              <a:rPr lang="en"/>
              <a:t>Sports</a:t>
            </a:r>
            <a:endParaRPr/>
          </a:p>
          <a:p>
            <a:pPr indent="-311150" lvl="0" marL="457200" rtl="0" algn="l">
              <a:spcBef>
                <a:spcPts val="0"/>
              </a:spcBef>
              <a:spcAft>
                <a:spcPts val="0"/>
              </a:spcAft>
              <a:buSzPts val="1300"/>
              <a:buChar char="❏"/>
            </a:pPr>
            <a:r>
              <a:rPr lang="en"/>
              <a:t>Entertainment</a:t>
            </a:r>
            <a:endParaRPr/>
          </a:p>
          <a:p>
            <a:pPr indent="-311150" lvl="0" marL="457200" rtl="0" algn="l">
              <a:spcBef>
                <a:spcPts val="0"/>
              </a:spcBef>
              <a:spcAft>
                <a:spcPts val="0"/>
              </a:spcAft>
              <a:buSzPts val="1300"/>
              <a:buChar char="❏"/>
            </a:pPr>
            <a:r>
              <a:rPr lang="en"/>
              <a:t>Crime</a:t>
            </a:r>
            <a:endParaRPr/>
          </a:p>
          <a:p>
            <a:pPr indent="-311150" lvl="0" marL="457200" rtl="0" algn="l">
              <a:spcBef>
                <a:spcPts val="0"/>
              </a:spcBef>
              <a:spcAft>
                <a:spcPts val="0"/>
              </a:spcAft>
              <a:buSzPts val="1300"/>
              <a:buChar char="❏"/>
            </a:pPr>
            <a:r>
              <a:rPr lang="en"/>
              <a:t>Religion</a:t>
            </a:r>
            <a:endParaRPr/>
          </a:p>
          <a:p>
            <a:pPr indent="-311150" lvl="0" marL="457200" rtl="0" algn="l">
              <a:spcBef>
                <a:spcPts val="0"/>
              </a:spcBef>
              <a:spcAft>
                <a:spcPts val="0"/>
              </a:spcAft>
              <a:buSzPts val="1300"/>
              <a:buChar char="❏"/>
            </a:pPr>
            <a:r>
              <a:rPr lang="en"/>
              <a:t>Politics</a:t>
            </a:r>
            <a:endParaRPr/>
          </a:p>
          <a:p>
            <a:pPr indent="-311150" lvl="0" marL="457200" rtl="0" algn="l">
              <a:spcBef>
                <a:spcPts val="0"/>
              </a:spcBef>
              <a:spcAft>
                <a:spcPts val="0"/>
              </a:spcAft>
              <a:buSzPts val="1300"/>
              <a:buChar char="❏"/>
            </a:pPr>
            <a:r>
              <a:rPr lang="en"/>
              <a:t>Celebrity</a:t>
            </a:r>
            <a:endParaRPr/>
          </a:p>
          <a:p>
            <a:pPr indent="-311150" lvl="0" marL="457200" rtl="0" algn="l">
              <a:spcBef>
                <a:spcPts val="0"/>
              </a:spcBef>
              <a:spcAft>
                <a:spcPts val="0"/>
              </a:spcAft>
              <a:buSzPts val="1300"/>
              <a:buChar char="❏"/>
            </a:pPr>
            <a:r>
              <a:rPr lang="en"/>
              <a:t>Meme,tiktok and others</a:t>
            </a:r>
            <a:endParaRPr/>
          </a:p>
        </p:txBody>
      </p:sp>
      <p:pic>
        <p:nvPicPr>
          <p:cNvPr id="178" name="Google Shape;178;p20"/>
          <p:cNvPicPr preferRelativeResize="0"/>
          <p:nvPr/>
        </p:nvPicPr>
        <p:blipFill>
          <a:blip r:embed="rId3">
            <a:alphaModFix/>
          </a:blip>
          <a:stretch>
            <a:fillRect/>
          </a:stretch>
        </p:blipFill>
        <p:spPr>
          <a:xfrm>
            <a:off x="5229425" y="1240775"/>
            <a:ext cx="3521901" cy="3452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Dataset of English Language</a:t>
            </a:r>
            <a:endParaRPr/>
          </a:p>
        </p:txBody>
      </p:sp>
      <p:sp>
        <p:nvSpPr>
          <p:cNvPr id="184" name="Google Shape;184;p21"/>
          <p:cNvSpPr txBox="1"/>
          <p:nvPr>
            <p:ph idx="1" type="body"/>
          </p:nvPr>
        </p:nvSpPr>
        <p:spPr>
          <a:xfrm>
            <a:off x="859175" y="1543500"/>
            <a:ext cx="2843400" cy="273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There are 24783 rows.</a:t>
            </a:r>
            <a:endParaRPr/>
          </a:p>
          <a:p>
            <a:pPr indent="0" lvl="0" marL="0" rtl="0" algn="l">
              <a:spcBef>
                <a:spcPts val="1200"/>
              </a:spcBef>
              <a:spcAft>
                <a:spcPts val="0"/>
              </a:spcAft>
              <a:buNone/>
            </a:pPr>
            <a:r>
              <a:rPr lang="en"/>
              <a:t>There are 7 column.</a:t>
            </a:r>
            <a:endParaRPr/>
          </a:p>
          <a:p>
            <a:pPr indent="-311150" lvl="0" marL="457200" rtl="0" algn="l">
              <a:spcBef>
                <a:spcPts val="1200"/>
              </a:spcBef>
              <a:spcAft>
                <a:spcPts val="0"/>
              </a:spcAft>
              <a:buSzPts val="1300"/>
              <a:buChar char="❏"/>
            </a:pPr>
            <a:r>
              <a:rPr lang="en"/>
              <a:t>Count</a:t>
            </a:r>
            <a:endParaRPr/>
          </a:p>
          <a:p>
            <a:pPr indent="-311150" lvl="0" marL="457200" rtl="0" algn="l">
              <a:spcBef>
                <a:spcPts val="0"/>
              </a:spcBef>
              <a:spcAft>
                <a:spcPts val="0"/>
              </a:spcAft>
              <a:buSzPts val="1300"/>
              <a:buChar char="❏"/>
            </a:pPr>
            <a:r>
              <a:rPr lang="en"/>
              <a:t>Hate speech</a:t>
            </a:r>
            <a:endParaRPr/>
          </a:p>
          <a:p>
            <a:pPr indent="-311150" lvl="0" marL="457200" rtl="0" algn="l">
              <a:spcBef>
                <a:spcPts val="0"/>
              </a:spcBef>
              <a:spcAft>
                <a:spcPts val="0"/>
              </a:spcAft>
              <a:buSzPts val="1300"/>
              <a:buChar char="❏"/>
            </a:pPr>
            <a:r>
              <a:rPr lang="en"/>
              <a:t>Offensive language</a:t>
            </a:r>
            <a:endParaRPr/>
          </a:p>
          <a:p>
            <a:pPr indent="-311150" lvl="0" marL="457200" rtl="0" algn="l">
              <a:spcBef>
                <a:spcPts val="0"/>
              </a:spcBef>
              <a:spcAft>
                <a:spcPts val="0"/>
              </a:spcAft>
              <a:buSzPts val="1300"/>
              <a:buChar char="❏"/>
            </a:pPr>
            <a:r>
              <a:rPr lang="en"/>
              <a:t>Neither</a:t>
            </a:r>
            <a:endParaRPr/>
          </a:p>
          <a:p>
            <a:pPr indent="-311150" lvl="0" marL="457200" rtl="0" algn="l">
              <a:spcBef>
                <a:spcPts val="0"/>
              </a:spcBef>
              <a:spcAft>
                <a:spcPts val="0"/>
              </a:spcAft>
              <a:buSzPts val="1300"/>
              <a:buChar char="❏"/>
            </a:pPr>
            <a:r>
              <a:rPr lang="en"/>
              <a:t>Tweet</a:t>
            </a:r>
            <a:endParaRPr/>
          </a:p>
        </p:txBody>
      </p:sp>
      <p:pic>
        <p:nvPicPr>
          <p:cNvPr id="185" name="Google Shape;185;p21"/>
          <p:cNvPicPr preferRelativeResize="0"/>
          <p:nvPr/>
        </p:nvPicPr>
        <p:blipFill>
          <a:blip r:embed="rId3">
            <a:alphaModFix/>
          </a:blip>
          <a:stretch>
            <a:fillRect/>
          </a:stretch>
        </p:blipFill>
        <p:spPr>
          <a:xfrm>
            <a:off x="3491875" y="1543500"/>
            <a:ext cx="5166324" cy="2838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191" name="Google Shape;191;p22"/>
          <p:cNvGraphicFramePr/>
          <p:nvPr/>
        </p:nvGraphicFramePr>
        <p:xfrm>
          <a:off x="1202225" y="1216550"/>
          <a:ext cx="3000000" cy="3000000"/>
        </p:xfrm>
        <a:graphic>
          <a:graphicData uri="http://schemas.openxmlformats.org/drawingml/2006/table">
            <a:tbl>
              <a:tblPr>
                <a:noFill/>
                <a:tableStyleId>{63F5981C-5A20-4A61-B182-B1B5E012071A}</a:tableStyleId>
              </a:tblPr>
              <a:tblGrid>
                <a:gridCol w="898175"/>
                <a:gridCol w="1583350"/>
                <a:gridCol w="1188550"/>
                <a:gridCol w="770450"/>
                <a:gridCol w="3174400"/>
              </a:tblGrid>
              <a:tr h="5725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14625">
                <a:tc>
                  <a:txBody>
                    <a:bodyPr/>
                    <a:lstStyle/>
                    <a:p>
                      <a:pPr indent="0" lvl="0" marL="0" rtl="0" algn="l">
                        <a:spcBef>
                          <a:spcPts val="0"/>
                        </a:spcBef>
                        <a:spcAft>
                          <a:spcPts val="0"/>
                        </a:spcAft>
                        <a:buNone/>
                      </a:pPr>
                      <a:r>
                        <a:rPr lang="en">
                          <a:solidFill>
                            <a:schemeClr val="lt1"/>
                          </a:solidFill>
                        </a:rPr>
                        <a:t>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Multilingual Hate Speech Detection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Wrong classification due to annotation’s dilemma (AD), Wrong classification due to confounding factors (CF), Wrong classification due to hidden context (HC)</a:t>
                      </a:r>
                      <a:endParaRPr>
                        <a:solidFill>
                          <a:schemeClr val="lt1"/>
                        </a:solidFill>
                      </a:endParaRPr>
                    </a:p>
                  </a:txBody>
                  <a:tcPr marT="91425" marB="91425" marR="91425" marL="91425"/>
                </a:tc>
              </a:tr>
              <a:tr h="548775">
                <a:tc>
                  <a:txBody>
                    <a:bodyPr/>
                    <a:lstStyle/>
                    <a:p>
                      <a:pPr indent="0" lvl="0" marL="0" rtl="0" algn="l">
                        <a:spcBef>
                          <a:spcPts val="0"/>
                        </a:spcBef>
                        <a:spcAft>
                          <a:spcPts val="0"/>
                        </a:spcAft>
                        <a:buNone/>
                      </a:pPr>
                      <a:r>
                        <a:rPr lang="en">
                          <a:solidFill>
                            <a:schemeClr val="lt1"/>
                          </a:solidFill>
                        </a:rPr>
                        <a:t>2</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Bengali Hate Speech Detection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a:solidFill>
                          <a:schemeClr val="lt1"/>
                        </a:solidFill>
                      </a:endParaRPr>
                    </a:p>
                    <a:p>
                      <a:pPr indent="0" lvl="0" marL="0" rtl="0" algn="l">
                        <a:spcBef>
                          <a:spcPts val="0"/>
                        </a:spcBef>
                        <a:spcAft>
                          <a:spcPts val="0"/>
                        </a:spcAft>
                        <a:buNone/>
                      </a:pPr>
                      <a:r>
                        <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97%</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Limited dataset</a:t>
                      </a:r>
                      <a:endParaRPr>
                        <a:solidFill>
                          <a:schemeClr val="lt1"/>
                        </a:solidFill>
                      </a:endParaRPr>
                    </a:p>
                  </a:txBody>
                  <a:tcPr marT="91425" marB="91425" marR="91425" marL="91425"/>
                </a:tc>
              </a:tr>
              <a:tr h="914625">
                <a:tc>
                  <a:txBody>
                    <a:bodyPr/>
                    <a:lstStyle/>
                    <a:p>
                      <a:pPr indent="0" lvl="0" marL="0" rtl="0" algn="l">
                        <a:spcBef>
                          <a:spcPts val="0"/>
                        </a:spcBef>
                        <a:spcAft>
                          <a:spcPts val="0"/>
                        </a:spcAft>
                        <a:buNone/>
                      </a:pPr>
                      <a:r>
                        <a:rPr lang="en">
                          <a:solidFill>
                            <a:schemeClr val="lt1"/>
                          </a:solidFill>
                        </a:rPr>
                        <a:t>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Multilingual Hate Speech Detection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89% in English,</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87% in malay.</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Limited range of hyperparameters of</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the BERT models</a:t>
                      </a:r>
                      <a:endParaRPr>
                        <a:solidFill>
                          <a:schemeClr val="lt1"/>
                        </a:solidFill>
                      </a:endParaRPr>
                    </a:p>
                  </a:txBody>
                  <a:tcPr marT="91425" marB="91425" marR="91425" marL="91425"/>
                </a:tc>
              </a:tr>
              <a:tr h="731700">
                <a:tc>
                  <a:txBody>
                    <a:bodyPr/>
                    <a:lstStyle/>
                    <a:p>
                      <a:pPr indent="0" lvl="0" marL="0" rtl="0" algn="l">
                        <a:spcBef>
                          <a:spcPts val="0"/>
                        </a:spcBef>
                        <a:spcAft>
                          <a:spcPts val="0"/>
                        </a:spcAft>
                        <a:buNone/>
                      </a:pPr>
                      <a:r>
                        <a:rPr lang="en">
                          <a:solidFill>
                            <a:schemeClr val="lt1"/>
                          </a:solidFill>
                        </a:rPr>
                        <a:t>4</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Limited range of hyperparameters of</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the BERT models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DistilBERT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80.36%</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Shortage of collected data</a:t>
                      </a:r>
                      <a:endParaRPr>
                        <a:solidFill>
                          <a:schemeClr val="lt1"/>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197" name="Google Shape;197;p23"/>
          <p:cNvGraphicFramePr/>
          <p:nvPr/>
        </p:nvGraphicFramePr>
        <p:xfrm>
          <a:off x="1202225" y="1216550"/>
          <a:ext cx="3000000" cy="3000000"/>
        </p:xfrm>
        <a:graphic>
          <a:graphicData uri="http://schemas.openxmlformats.org/drawingml/2006/table">
            <a:tbl>
              <a:tblPr>
                <a:noFill/>
                <a:tableStyleId>{63F5981C-5A20-4A61-B182-B1B5E012071A}</a:tableStyleId>
              </a:tblPr>
              <a:tblGrid>
                <a:gridCol w="898175"/>
                <a:gridCol w="1583350"/>
                <a:gridCol w="1188550"/>
                <a:gridCol w="770450"/>
                <a:gridCol w="3174400"/>
              </a:tblGrid>
              <a:tr h="5725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14625">
                <a:tc>
                  <a:txBody>
                    <a:bodyPr/>
                    <a:lstStyle/>
                    <a:p>
                      <a:pPr indent="0" lvl="0" marL="0" rtl="0" algn="l">
                        <a:spcBef>
                          <a:spcPts val="0"/>
                        </a:spcBef>
                        <a:spcAft>
                          <a:spcPts val="0"/>
                        </a:spcAft>
                        <a:buNone/>
                      </a:pPr>
                      <a:r>
                        <a:rPr lang="en">
                          <a:solidFill>
                            <a:schemeClr val="lt1"/>
                          </a:solidFill>
                        </a:rPr>
                        <a:t>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Cross-Lingual Few-Shot Hate Speech and Offensive Language Detection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Proto-MAML</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63.1</a:t>
                      </a:r>
                      <a:r>
                        <a:rPr lang="en" sz="1200">
                          <a:solidFill>
                            <a:schemeClr val="lt1"/>
                          </a:solidFill>
                          <a:latin typeface="Calibri"/>
                          <a:ea typeface="Calibri"/>
                          <a:cs typeface="Calibri"/>
                          <a:sym typeface="Calibri"/>
                        </a:rPr>
                        <a: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Shortage of collected data</a:t>
                      </a:r>
                      <a:endParaRPr>
                        <a:solidFill>
                          <a:schemeClr val="lt1"/>
                        </a:solidFill>
                      </a:endParaRPr>
                    </a:p>
                  </a:txBody>
                  <a:tcPr marT="91425" marB="91425" marR="91425" marL="91425"/>
                </a:tc>
              </a:tr>
              <a:tr h="548775">
                <a:tc>
                  <a:txBody>
                    <a:bodyPr/>
                    <a:lstStyle/>
                    <a:p>
                      <a:pPr indent="0" lvl="0" marL="0" rtl="0" algn="l">
                        <a:spcBef>
                          <a:spcPts val="0"/>
                        </a:spcBef>
                        <a:spcAft>
                          <a:spcPts val="0"/>
                        </a:spcAft>
                        <a:buNone/>
                      </a:pPr>
                      <a:r>
                        <a:rPr lang="en">
                          <a:solidFill>
                            <a:schemeClr val="lt1"/>
                          </a:solidFill>
                        </a:rPr>
                        <a:t>6</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 Speech detection in the Bengali language:</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A dataset and its baseline evaluation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SVM</a:t>
                      </a:r>
                      <a:endParaRPr>
                        <a:solidFill>
                          <a:schemeClr val="lt1"/>
                        </a:solidFill>
                      </a:endParaRPr>
                    </a:p>
                    <a:p>
                      <a:pPr indent="0" lvl="0" marL="0" rtl="0" algn="l">
                        <a:spcBef>
                          <a:spcPts val="0"/>
                        </a:spcBef>
                        <a:spcAft>
                          <a:spcPts val="0"/>
                        </a:spcAft>
                        <a:buNone/>
                      </a:pPr>
                      <a:r>
                        <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a:t>
                      </a:r>
                      <a:r>
                        <a:rPr lang="en" sz="1200">
                          <a:solidFill>
                            <a:schemeClr val="lt1"/>
                          </a:solidFill>
                          <a:latin typeface="Calibri"/>
                          <a:ea typeface="Calibri"/>
                          <a:cs typeface="Calibri"/>
                          <a:sym typeface="Calibri"/>
                        </a:rPr>
                        <a:t>7.5%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The lack of sufficient data.</a:t>
                      </a:r>
                      <a:endParaRPr>
                        <a:solidFill>
                          <a:schemeClr val="lt1"/>
                        </a:solidFill>
                      </a:endParaRPr>
                    </a:p>
                  </a:txBody>
                  <a:tcPr marT="91425" marB="91425" marR="91425" marL="91425"/>
                </a:tc>
              </a:tr>
              <a:tr h="914625">
                <a:tc>
                  <a:txBody>
                    <a:bodyPr/>
                    <a:lstStyle/>
                    <a:p>
                      <a:pPr indent="0" lvl="0" marL="0" rtl="0" algn="l">
                        <a:spcBef>
                          <a:spcPts val="0"/>
                        </a:spcBef>
                        <a:spcAft>
                          <a:spcPts val="0"/>
                        </a:spcAft>
                        <a:buNone/>
                      </a:pPr>
                      <a:r>
                        <a:rPr lang="en">
                          <a:solidFill>
                            <a:schemeClr val="lt1"/>
                          </a:solidFill>
                        </a:rPr>
                        <a:t>7</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 speech detection: Challenges and</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solutions</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BERT,Multi-view SVM</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82.01%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Need for more research on technical and practical matters.</a:t>
                      </a:r>
                      <a:endParaRPr>
                        <a:solidFill>
                          <a:schemeClr val="lt1"/>
                        </a:solidFill>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203" name="Google Shape;203;p24"/>
          <p:cNvGraphicFramePr/>
          <p:nvPr/>
        </p:nvGraphicFramePr>
        <p:xfrm>
          <a:off x="1202225" y="1216550"/>
          <a:ext cx="3000000" cy="3000000"/>
        </p:xfrm>
        <a:graphic>
          <a:graphicData uri="http://schemas.openxmlformats.org/drawingml/2006/table">
            <a:tbl>
              <a:tblPr>
                <a:noFill/>
                <a:tableStyleId>{63F5981C-5A20-4A61-B182-B1B5E012071A}</a:tableStyleId>
              </a:tblPr>
              <a:tblGrid>
                <a:gridCol w="898175"/>
                <a:gridCol w="1583350"/>
                <a:gridCol w="1188550"/>
                <a:gridCol w="770450"/>
                <a:gridCol w="3174400"/>
              </a:tblGrid>
              <a:tr h="5725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14625">
                <a:tc>
                  <a:txBody>
                    <a:bodyPr/>
                    <a:lstStyle/>
                    <a:p>
                      <a:pPr indent="0" lvl="0" marL="0" rtl="0" algn="l">
                        <a:spcBef>
                          <a:spcPts val="0"/>
                        </a:spcBef>
                        <a:spcAft>
                          <a:spcPts val="0"/>
                        </a:spcAft>
                        <a:buNone/>
                      </a:pPr>
                      <a:r>
                        <a:rPr lang="en">
                          <a:solidFill>
                            <a:schemeClr val="lt1"/>
                          </a:solidFill>
                        </a:rPr>
                        <a:t>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 speech detection on social</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media using neural network</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Recurrent neural network (RNN),CNN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77</a:t>
                      </a:r>
                      <a:r>
                        <a:rPr lang="en" sz="1200">
                          <a:solidFill>
                            <a:schemeClr val="lt1"/>
                          </a:solidFill>
                          <a:latin typeface="Calibri"/>
                          <a:ea typeface="Calibri"/>
                          <a:cs typeface="Calibri"/>
                          <a:sym typeface="Calibri"/>
                        </a:rPr>
                        <a: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The lack of sufficient data.Further,need more datasets.</a:t>
                      </a:r>
                      <a:endParaRPr>
                        <a:solidFill>
                          <a:schemeClr val="lt1"/>
                        </a:solidFill>
                      </a:endParaRPr>
                    </a:p>
                  </a:txBody>
                  <a:tcPr marT="91425" marB="91425" marR="91425" marL="91425"/>
                </a:tc>
              </a:tr>
              <a:tr h="548775">
                <a:tc>
                  <a:txBody>
                    <a:bodyPr/>
                    <a:lstStyle/>
                    <a:p>
                      <a:pPr indent="0" lvl="0" marL="0" rtl="0" algn="l">
                        <a:spcBef>
                          <a:spcPts val="0"/>
                        </a:spcBef>
                        <a:spcAft>
                          <a:spcPts val="0"/>
                        </a:spcAft>
                        <a:buNone/>
                      </a:pPr>
                      <a:r>
                        <a:rPr lang="en">
                          <a:solidFill>
                            <a:schemeClr val="lt1"/>
                          </a:solidFill>
                        </a:rPr>
                        <a:t>9</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 Speech and Offensive Language Detection in Bengali</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m-BERT,XLM-Roberta,IndicBERT,muRIL,ELFI</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only analyzed publicly available data crawled</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via Twitter API.</a:t>
                      </a:r>
                      <a:endParaRPr sz="1200">
                        <a:solidFill>
                          <a:schemeClr val="lt1"/>
                        </a:solidFill>
                        <a:latin typeface="Calibri"/>
                        <a:ea typeface="Calibri"/>
                        <a:cs typeface="Calibri"/>
                        <a:sym typeface="Calibri"/>
                      </a:endParaRPr>
                    </a:p>
                  </a:txBody>
                  <a:tcPr marT="91425" marB="91425" marR="91425" marL="91425"/>
                </a:tc>
              </a:tr>
              <a:tr h="914625">
                <a:tc>
                  <a:txBody>
                    <a:bodyPr/>
                    <a:lstStyle/>
                    <a:p>
                      <a:pPr indent="0" lvl="0" marL="0" rtl="0" algn="l">
                        <a:spcBef>
                          <a:spcPts val="0"/>
                        </a:spcBef>
                        <a:spcAft>
                          <a:spcPts val="0"/>
                        </a:spcAft>
                        <a:buNone/>
                      </a:pPr>
                      <a:r>
                        <a:rPr lang="en">
                          <a:solidFill>
                            <a:schemeClr val="lt1"/>
                          </a:solidFill>
                        </a:rPr>
                        <a:t>10</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SOCIAL MEDIA</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COMMENTS FOR HATE SPEECH  DETECTION IN BANGLA</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86.78%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Found that emoji and punctuation do not affect HS detection</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209" name="Google Shape;209;p25"/>
          <p:cNvGraphicFramePr/>
          <p:nvPr/>
        </p:nvGraphicFramePr>
        <p:xfrm>
          <a:off x="1184625" y="1231875"/>
          <a:ext cx="3000000" cy="3000000"/>
        </p:xfrm>
        <a:graphic>
          <a:graphicData uri="http://schemas.openxmlformats.org/drawingml/2006/table">
            <a:tbl>
              <a:tblPr>
                <a:noFill/>
                <a:tableStyleId>{63F5981C-5A20-4A61-B182-B1B5E012071A}</a:tableStyleId>
              </a:tblPr>
              <a:tblGrid>
                <a:gridCol w="906775"/>
                <a:gridCol w="2163600"/>
                <a:gridCol w="1015475"/>
                <a:gridCol w="916175"/>
                <a:gridCol w="2685850"/>
              </a:tblGrid>
              <a:tr h="5789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80050">
                <a:tc>
                  <a:txBody>
                    <a:bodyPr/>
                    <a:lstStyle/>
                    <a:p>
                      <a:pPr indent="0" lvl="0" marL="0" rtl="0" algn="l">
                        <a:spcBef>
                          <a:spcPts val="0"/>
                        </a:spcBef>
                        <a:spcAft>
                          <a:spcPts val="0"/>
                        </a:spcAft>
                        <a:buNone/>
                      </a:pPr>
                      <a:r>
                        <a:rPr lang="en">
                          <a:solidFill>
                            <a:schemeClr val="lt1"/>
                          </a:solidFill>
                        </a:rPr>
                        <a:t>11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Multilingual Racial Hate Speech Detection Using Transfer Learning</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 and HateXplain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88%</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F1-score 86%</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Due to the limitation of time they were unable to research further.</a:t>
                      </a:r>
                      <a:endParaRPr>
                        <a:solidFill>
                          <a:schemeClr val="lt1"/>
                        </a:solidFill>
                      </a:endParaRPr>
                    </a:p>
                  </a:txBody>
                  <a:tcPr marT="91425" marB="91425" marR="91425" marL="91425"/>
                </a:tc>
              </a:tr>
              <a:tr h="1085675">
                <a:tc>
                  <a:txBody>
                    <a:bodyPr/>
                    <a:lstStyle/>
                    <a:p>
                      <a:pPr indent="0" lvl="0" marL="0" rtl="0" algn="l">
                        <a:spcBef>
                          <a:spcPts val="0"/>
                        </a:spcBef>
                        <a:spcAft>
                          <a:spcPts val="0"/>
                        </a:spcAft>
                        <a:buNone/>
                      </a:pPr>
                      <a:r>
                        <a:rPr lang="en">
                          <a:solidFill>
                            <a:schemeClr val="lt1"/>
                          </a:solidFill>
                        </a:rPr>
                        <a:t>12</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Automated Sentiment and Hate Speech Analysis of Facebook</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Data by Employing Multilingual Transformer Models.</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XLM-T and NLP</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F1-score</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Hateful</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71%</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Non-hateful 83%</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Hateful Speech detection Precision is only 55%</a:t>
                      </a:r>
                      <a:endParaRPr sz="1200">
                        <a:solidFill>
                          <a:schemeClr val="lt1"/>
                        </a:solidFill>
                        <a:latin typeface="Calibri"/>
                        <a:ea typeface="Calibri"/>
                        <a:cs typeface="Calibri"/>
                        <a:sym typeface="Calibri"/>
                      </a:endParaRPr>
                    </a:p>
                  </a:txBody>
                  <a:tcPr marT="91425" marB="91425" marR="91425" marL="91425"/>
                </a:tc>
              </a:tr>
              <a:tr h="947300">
                <a:tc>
                  <a:txBody>
                    <a:bodyPr/>
                    <a:lstStyle/>
                    <a:p>
                      <a:pPr indent="0" lvl="0" marL="0" rtl="0" algn="l">
                        <a:spcBef>
                          <a:spcPts val="0"/>
                        </a:spcBef>
                        <a:spcAft>
                          <a:spcPts val="0"/>
                        </a:spcAft>
                        <a:buNone/>
                      </a:pPr>
                      <a:r>
                        <a:rPr lang="en">
                          <a:solidFill>
                            <a:schemeClr val="lt1"/>
                          </a:solidFill>
                        </a:rPr>
                        <a:t>13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Large Annotated Dataset for Multi-Domain</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and Multilingual Hate Speech Identification.</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BERT-Zero Shot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93</a:t>
                      </a:r>
                      <a:r>
                        <a:rPr lang="en" sz="1200">
                          <a:solidFill>
                            <a:schemeClr val="lt1"/>
                          </a:solidFill>
                          <a:latin typeface="Calibri"/>
                          <a:ea typeface="Calibri"/>
                          <a:cs typeface="Calibri"/>
                          <a:sym typeface="Calibri"/>
                        </a:rPr>
                        <a: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Cannot detect leetspeak</a:t>
                      </a:r>
                      <a:endParaRPr sz="1200">
                        <a:solidFill>
                          <a:schemeClr val="lt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215" name="Google Shape;215;p26"/>
          <p:cNvGraphicFramePr/>
          <p:nvPr/>
        </p:nvGraphicFramePr>
        <p:xfrm>
          <a:off x="1184625" y="1231875"/>
          <a:ext cx="3000000" cy="3000000"/>
        </p:xfrm>
        <a:graphic>
          <a:graphicData uri="http://schemas.openxmlformats.org/drawingml/2006/table">
            <a:tbl>
              <a:tblPr>
                <a:noFill/>
                <a:tableStyleId>{63F5981C-5A20-4A61-B182-B1B5E012071A}</a:tableStyleId>
              </a:tblPr>
              <a:tblGrid>
                <a:gridCol w="906775"/>
                <a:gridCol w="2163600"/>
                <a:gridCol w="1015475"/>
                <a:gridCol w="916175"/>
                <a:gridCol w="2685850"/>
              </a:tblGrid>
              <a:tr h="5789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14</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Combating Hate: How Multilingual</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Transformers Can Help Detect Topical Hate Speech</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LASER + SVM</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Baseline,</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mBERT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Lowest 68.2% and highest 85%</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Smaller datasets with class imbalance produced a weak fit</a:t>
                      </a:r>
                      <a:endParaRPr>
                        <a:solidFill>
                          <a:schemeClr val="lt1"/>
                        </a:solidFill>
                      </a:endParaRPr>
                    </a:p>
                  </a:txBody>
                  <a:tcPr marT="91425" marB="91425" marR="91425" marL="91425"/>
                </a:tc>
              </a:tr>
              <a:tr h="981875">
                <a:tc>
                  <a:txBody>
                    <a:bodyPr/>
                    <a:lstStyle/>
                    <a:p>
                      <a:pPr indent="0" lvl="0" marL="0" rtl="0" algn="l">
                        <a:spcBef>
                          <a:spcPts val="0"/>
                        </a:spcBef>
                        <a:spcAft>
                          <a:spcPts val="0"/>
                        </a:spcAft>
                        <a:buNone/>
                      </a:pPr>
                      <a:r>
                        <a:rPr lang="en">
                          <a:solidFill>
                            <a:schemeClr val="lt1"/>
                          </a:solidFill>
                        </a:rPr>
                        <a:t>15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LMU at HaSpeeDe3: Multi-Dataset Training for Cross-Domain Hate Speech Detection.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AlBERTo, UmBERTo, mBERT and XML-R</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64%</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The accuracy is not that great. More data required.</a:t>
                      </a:r>
                      <a:endParaRPr sz="1200">
                        <a:solidFill>
                          <a:schemeClr val="lt1"/>
                        </a:solidFill>
                        <a:latin typeface="Calibri"/>
                        <a:ea typeface="Calibri"/>
                        <a:cs typeface="Calibri"/>
                        <a:sym typeface="Calibri"/>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16</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 Speech Detection in Italian Social Media Text</a:t>
                      </a:r>
                      <a:r>
                        <a:rPr lang="en" sz="1200">
                          <a:solidFill>
                            <a:schemeClr val="lt1"/>
                          </a:solidFill>
                          <a:latin typeface="Calibri"/>
                          <a:ea typeface="Calibri"/>
                          <a:cs typeface="Calibri"/>
                          <a:sym typeface="Calibri"/>
                        </a:rPr>
                        <a:t>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XML-Base, XLM-Large,</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mBERT, ITA-Base-XXL</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88.63%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Limited evaluation of hate speech detection models on Italian language subset.</a:t>
                      </a:r>
                      <a:endParaRPr sz="1200">
                        <a:solidFill>
                          <a:schemeClr val="lt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221" name="Google Shape;221;p27"/>
          <p:cNvGraphicFramePr/>
          <p:nvPr/>
        </p:nvGraphicFramePr>
        <p:xfrm>
          <a:off x="1184625" y="1231875"/>
          <a:ext cx="3000000" cy="3000000"/>
        </p:xfrm>
        <a:graphic>
          <a:graphicData uri="http://schemas.openxmlformats.org/drawingml/2006/table">
            <a:tbl>
              <a:tblPr>
                <a:noFill/>
                <a:tableStyleId>{63F5981C-5A20-4A61-B182-B1B5E012071A}</a:tableStyleId>
              </a:tblPr>
              <a:tblGrid>
                <a:gridCol w="906775"/>
                <a:gridCol w="2163600"/>
                <a:gridCol w="1015475"/>
                <a:gridCol w="916175"/>
                <a:gridCol w="2685850"/>
              </a:tblGrid>
              <a:tr h="5789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17</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Multi-Task Learning Approach to Hate Speech</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Detection</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BERT,BETO</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86.58%</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Limited focus on improving dataset quality for enhanced model learning.</a:t>
                      </a:r>
                      <a:endParaRPr>
                        <a:solidFill>
                          <a:schemeClr val="lt1"/>
                        </a:solidFill>
                      </a:endParaRPr>
                    </a:p>
                  </a:txBody>
                  <a:tcPr marT="91425" marB="91425" marR="91425" marL="91425"/>
                </a:tc>
              </a:tr>
              <a:tr h="981875">
                <a:tc>
                  <a:txBody>
                    <a:bodyPr/>
                    <a:lstStyle/>
                    <a:p>
                      <a:pPr indent="0" lvl="0" marL="0" rtl="0" algn="l">
                        <a:spcBef>
                          <a:spcPts val="0"/>
                        </a:spcBef>
                        <a:spcAft>
                          <a:spcPts val="0"/>
                        </a:spcAft>
                        <a:buNone/>
                      </a:pPr>
                      <a:r>
                        <a:rPr lang="en">
                          <a:solidFill>
                            <a:schemeClr val="lt1"/>
                          </a:solidFill>
                        </a:rPr>
                        <a:t>18</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BERT-Mini Model for Hate-Speech Detection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98.6%</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Does not thoroughly investigate how to optimize the BERT model for better performance</a:t>
                      </a:r>
                      <a:endParaRPr sz="1200">
                        <a:solidFill>
                          <a:schemeClr val="lt1"/>
                        </a:solidFill>
                        <a:latin typeface="Calibri"/>
                        <a:ea typeface="Calibri"/>
                        <a:cs typeface="Calibri"/>
                        <a:sym typeface="Calibri"/>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19</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Emotionally Informed Hate Speech Detection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ELMo,</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CNN</a:t>
                      </a:r>
                      <a:r>
                        <a:rPr b="1" lang="en" sz="800">
                          <a:solidFill>
                            <a:schemeClr val="lt1"/>
                          </a:solidFill>
                          <a:latin typeface="Calibri"/>
                          <a:ea typeface="Calibri"/>
                          <a:cs typeface="Calibri"/>
                          <a:sym typeface="Calibri"/>
                        </a:rPr>
                        <a:t>FastText</a:t>
                      </a:r>
                      <a:r>
                        <a:rPr lang="en"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91.3%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The research does not fully consider how the meaning of words and context affects accurately identifying hate speech.</a:t>
                      </a:r>
                      <a:endParaRPr sz="1200">
                        <a:solidFill>
                          <a:schemeClr val="lt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227" name="Google Shape;227;p28"/>
          <p:cNvGraphicFramePr/>
          <p:nvPr/>
        </p:nvGraphicFramePr>
        <p:xfrm>
          <a:off x="1184625" y="1231875"/>
          <a:ext cx="3000000" cy="3000000"/>
        </p:xfrm>
        <a:graphic>
          <a:graphicData uri="http://schemas.openxmlformats.org/drawingml/2006/table">
            <a:tbl>
              <a:tblPr>
                <a:noFill/>
                <a:tableStyleId>{63F5981C-5A20-4A61-B182-B1B5E012071A}</a:tableStyleId>
              </a:tblPr>
              <a:tblGrid>
                <a:gridCol w="906775"/>
                <a:gridCol w="2163600"/>
                <a:gridCol w="1015475"/>
                <a:gridCol w="916175"/>
                <a:gridCol w="2685850"/>
              </a:tblGrid>
              <a:tr h="5789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20</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 Speech Detection Using </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Natural Language Processing Techniques</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CNN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91</a:t>
                      </a:r>
                      <a:r>
                        <a:rPr lang="en"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Limited dataset</a:t>
                      </a:r>
                      <a:endParaRPr>
                        <a:solidFill>
                          <a:schemeClr val="lt1"/>
                        </a:solidFill>
                      </a:endParaRPr>
                    </a:p>
                  </a:txBody>
                  <a:tcPr marT="91425" marB="91425" marR="91425" marL="91425"/>
                </a:tc>
              </a:tr>
              <a:tr h="981875">
                <a:tc>
                  <a:txBody>
                    <a:bodyPr/>
                    <a:lstStyle/>
                    <a:p>
                      <a:pPr indent="0" lvl="0" marL="0" rtl="0" algn="l">
                        <a:spcBef>
                          <a:spcPts val="0"/>
                        </a:spcBef>
                        <a:spcAft>
                          <a:spcPts val="0"/>
                        </a:spcAft>
                        <a:buNone/>
                      </a:pPr>
                      <a:r>
                        <a:rPr lang="en">
                          <a:solidFill>
                            <a:schemeClr val="lt1"/>
                          </a:solidFill>
                        </a:rPr>
                        <a:t>2</a:t>
                      </a:r>
                      <a:r>
                        <a:rPr lang="en">
                          <a:solidFill>
                            <a:schemeClr val="lt1"/>
                          </a:solidFill>
                        </a:rPr>
                        <a:t>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Political and</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Religious Hate Speech Detection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91%</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Out-of-domain setting does not work properly.</a:t>
                      </a:r>
                      <a:endParaRPr sz="1200">
                        <a:solidFill>
                          <a:schemeClr val="lt1"/>
                        </a:solidFill>
                        <a:latin typeface="Calibri"/>
                        <a:ea typeface="Calibri"/>
                        <a:cs typeface="Calibri"/>
                        <a:sym typeface="Calibri"/>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22</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Hate</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Speech</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BERT,G-BERT</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95.56%</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Multiple language sentences are included in the Dataset. Some languages have less data .</a:t>
                      </a:r>
                      <a:endParaRPr sz="1200">
                        <a:solidFill>
                          <a:schemeClr val="lt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1305725" y="528850"/>
            <a:ext cx="7445700" cy="48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Summary Literature Review</a:t>
            </a:r>
            <a:endParaRPr b="1"/>
          </a:p>
        </p:txBody>
      </p:sp>
      <p:graphicFrame>
        <p:nvGraphicFramePr>
          <p:cNvPr id="233" name="Google Shape;233;p29"/>
          <p:cNvGraphicFramePr/>
          <p:nvPr/>
        </p:nvGraphicFramePr>
        <p:xfrm>
          <a:off x="1184625" y="1231875"/>
          <a:ext cx="3000000" cy="3000000"/>
        </p:xfrm>
        <a:graphic>
          <a:graphicData uri="http://schemas.openxmlformats.org/drawingml/2006/table">
            <a:tbl>
              <a:tblPr>
                <a:noFill/>
                <a:tableStyleId>{63F5981C-5A20-4A61-B182-B1B5E012071A}</a:tableStyleId>
              </a:tblPr>
              <a:tblGrid>
                <a:gridCol w="906775"/>
                <a:gridCol w="2163600"/>
                <a:gridCol w="1015475"/>
                <a:gridCol w="916175"/>
                <a:gridCol w="2685850"/>
              </a:tblGrid>
              <a:tr h="578950">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Reference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Purpose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Research Methods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Results</a:t>
                      </a:r>
                      <a:endParaRPr>
                        <a:solidFill>
                          <a:schemeClr val="lt1"/>
                        </a:solidFill>
                      </a:endParaRPr>
                    </a:p>
                  </a:txBody>
                  <a:tcPr marT="91425" marB="91425" marR="91425" marL="91425"/>
                </a:tc>
                <a:tc>
                  <a:txBody>
                    <a:bodyPr/>
                    <a:lstStyle/>
                    <a:p>
                      <a:pPr indent="0" lvl="0" marL="0" rtl="0" algn="just">
                        <a:spcBef>
                          <a:spcPts val="0"/>
                        </a:spcBef>
                        <a:spcAft>
                          <a:spcPts val="0"/>
                        </a:spcAft>
                        <a:buNone/>
                      </a:pPr>
                      <a:r>
                        <a:rPr lang="en" sz="1200">
                          <a:solidFill>
                            <a:schemeClr val="lt1"/>
                          </a:solidFill>
                          <a:latin typeface="Calibri"/>
                          <a:ea typeface="Calibri"/>
                          <a:cs typeface="Calibri"/>
                          <a:sym typeface="Calibri"/>
                        </a:rPr>
                        <a:t>Challenges/Research Gaps</a:t>
                      </a:r>
                      <a:endParaRPr>
                        <a:solidFill>
                          <a:schemeClr val="lt1"/>
                        </a:solidFill>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23</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Bengali Hate Speech Detection</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80</a:t>
                      </a:r>
                      <a:r>
                        <a:rPr lang="en"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Shortage of collected data</a:t>
                      </a:r>
                      <a:endParaRPr>
                        <a:solidFill>
                          <a:schemeClr val="lt1"/>
                        </a:solidFill>
                      </a:endParaRPr>
                    </a:p>
                  </a:txBody>
                  <a:tcPr marT="91425" marB="91425" marR="91425" marL="91425"/>
                </a:tc>
              </a:tr>
              <a:tr h="981875">
                <a:tc>
                  <a:txBody>
                    <a:bodyPr/>
                    <a:lstStyle/>
                    <a:p>
                      <a:pPr indent="0" lvl="0" marL="0" rtl="0" algn="l">
                        <a:spcBef>
                          <a:spcPts val="0"/>
                        </a:spcBef>
                        <a:spcAft>
                          <a:spcPts val="0"/>
                        </a:spcAft>
                        <a:buNone/>
                      </a:pPr>
                      <a:r>
                        <a:rPr lang="en">
                          <a:solidFill>
                            <a:schemeClr val="lt1"/>
                          </a:solidFill>
                        </a:rPr>
                        <a:t>24</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Contextual Information</a:t>
                      </a:r>
                      <a:endParaRPr sz="1200">
                        <a:solidFill>
                          <a:schemeClr val="lt1"/>
                        </a:solidFill>
                        <a:latin typeface="Calibri"/>
                        <a:ea typeface="Calibri"/>
                        <a:cs typeface="Calibri"/>
                        <a:sym typeface="Calibri"/>
                      </a:endParaRPr>
                    </a:p>
                    <a:p>
                      <a:pPr indent="0" lvl="0" marL="0" rtl="0" algn="l">
                        <a:spcBef>
                          <a:spcPts val="0"/>
                        </a:spcBef>
                        <a:spcAft>
                          <a:spcPts val="0"/>
                        </a:spcAft>
                        <a:buNone/>
                      </a:pPr>
                      <a:r>
                        <a:rPr lang="en" sz="1200">
                          <a:solidFill>
                            <a:schemeClr val="lt1"/>
                          </a:solidFill>
                          <a:latin typeface="Calibri"/>
                          <a:ea typeface="Calibri"/>
                          <a:cs typeface="Calibri"/>
                          <a:sym typeface="Calibri"/>
                        </a:rPr>
                        <a:t>in Hate Speech Detection</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BERT</a:t>
                      </a:r>
                      <a:endParaRPr sz="1000">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6</a:t>
                      </a:r>
                      <a:r>
                        <a:rPr lang="en" sz="1200">
                          <a:solidFill>
                            <a:schemeClr val="lt1"/>
                          </a:solidFill>
                          <a:latin typeface="Calibri"/>
                          <a:ea typeface="Calibri"/>
                          <a:cs typeface="Calibri"/>
                          <a:sym typeface="Calibri"/>
                        </a:rPr>
                        <a:t>1.3%</a:t>
                      </a:r>
                      <a:endParaRPr sz="1200">
                        <a:solidFill>
                          <a:schemeClr val="lt1"/>
                        </a:solidFill>
                        <a:latin typeface="Calibri"/>
                        <a:ea typeface="Calibri"/>
                        <a:cs typeface="Calibri"/>
                        <a:sym typeface="Calibri"/>
                      </a:endParaRPr>
                    </a:p>
                    <a:p>
                      <a:pPr indent="0" lvl="0" marL="0" rtl="0" algn="l">
                        <a:spcBef>
                          <a:spcPts val="0"/>
                        </a:spcBef>
                        <a:spcAft>
                          <a:spcPts val="0"/>
                        </a:spcAft>
                        <a:buNone/>
                      </a:pPr>
                      <a:r>
                        <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we can observe that the dataset has complex,limited dataset, long contexts.</a:t>
                      </a:r>
                      <a:endParaRPr sz="1200">
                        <a:solidFill>
                          <a:schemeClr val="lt1"/>
                        </a:solidFill>
                        <a:latin typeface="Calibri"/>
                        <a:ea typeface="Calibri"/>
                        <a:cs typeface="Calibri"/>
                        <a:sym typeface="Calibri"/>
                      </a:endParaRPr>
                    </a:p>
                  </a:txBody>
                  <a:tcPr marT="91425" marB="91425" marR="91425" marL="91425"/>
                </a:tc>
              </a:tr>
              <a:tr h="981925">
                <a:tc>
                  <a:txBody>
                    <a:bodyPr/>
                    <a:lstStyle/>
                    <a:p>
                      <a:pPr indent="0" lvl="0" marL="0" rtl="0" algn="l">
                        <a:spcBef>
                          <a:spcPts val="0"/>
                        </a:spcBef>
                        <a:spcAft>
                          <a:spcPts val="0"/>
                        </a:spcAft>
                        <a:buNone/>
                      </a:pPr>
                      <a:r>
                        <a:rPr lang="en">
                          <a:solidFill>
                            <a:schemeClr val="lt1"/>
                          </a:solidFill>
                        </a:rPr>
                        <a:t>25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Bangla hate speech</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G-BERT</a:t>
                      </a:r>
                      <a:endParaRPr sz="1200">
                        <a:solidFill>
                          <a:schemeClr val="lt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95.56%</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sz="1200">
                          <a:solidFill>
                            <a:schemeClr val="lt1"/>
                          </a:solidFill>
                          <a:latin typeface="Calibri"/>
                          <a:ea typeface="Calibri"/>
                          <a:cs typeface="Calibri"/>
                          <a:sym typeface="Calibri"/>
                        </a:rPr>
                        <a:t>Banglish sentence is not included</a:t>
                      </a:r>
                      <a:endParaRPr sz="1200">
                        <a:solidFill>
                          <a:schemeClr val="lt1"/>
                        </a:solidFill>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600"/>
              <a:t>Methodology</a:t>
            </a:r>
            <a:endParaRPr b="1" sz="2600"/>
          </a:p>
        </p:txBody>
      </p:sp>
      <p:sp>
        <p:nvSpPr>
          <p:cNvPr id="239" name="Google Shape;239;p30"/>
          <p:cNvSpPr txBox="1"/>
          <p:nvPr>
            <p:ph idx="1" type="body"/>
          </p:nvPr>
        </p:nvSpPr>
        <p:spPr>
          <a:xfrm>
            <a:off x="538650" y="1499225"/>
            <a:ext cx="3730800" cy="27378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b="1" sz="1800"/>
          </a:p>
          <a:p>
            <a:pPr indent="0" lvl="0" marL="457200" rtl="0" algn="l">
              <a:spcBef>
                <a:spcPts val="1200"/>
              </a:spcBef>
              <a:spcAft>
                <a:spcPts val="0"/>
              </a:spcAft>
              <a:buNone/>
            </a:pPr>
            <a:r>
              <a:rPr b="1" lang="en" sz="1800"/>
              <a:t>Steps</a:t>
            </a:r>
            <a:endParaRPr b="1" sz="1800"/>
          </a:p>
          <a:p>
            <a:pPr indent="-298450" lvl="0" marL="457200" rtl="0" algn="l">
              <a:spcBef>
                <a:spcPts val="1200"/>
              </a:spcBef>
              <a:spcAft>
                <a:spcPts val="0"/>
              </a:spcAft>
              <a:buSzPts val="1100"/>
              <a:buAutoNum type="arabicPeriod"/>
            </a:pPr>
            <a:r>
              <a:rPr lang="en" sz="1100"/>
              <a:t>We collect dataset .</a:t>
            </a:r>
            <a:endParaRPr sz="1100"/>
          </a:p>
          <a:p>
            <a:pPr indent="-298450" lvl="0" marL="457200" rtl="0" algn="l">
              <a:spcBef>
                <a:spcPts val="0"/>
              </a:spcBef>
              <a:spcAft>
                <a:spcPts val="0"/>
              </a:spcAft>
              <a:buSzPts val="1100"/>
              <a:buAutoNum type="arabicPeriod"/>
            </a:pPr>
            <a:r>
              <a:rPr lang="en" sz="1100"/>
              <a:t>Pre-</a:t>
            </a:r>
            <a:r>
              <a:rPr lang="en" sz="1100"/>
              <a:t>process</a:t>
            </a:r>
            <a:r>
              <a:rPr lang="en" sz="1100"/>
              <a:t> the data.</a:t>
            </a:r>
            <a:endParaRPr sz="1100"/>
          </a:p>
          <a:p>
            <a:pPr indent="-298450" lvl="0" marL="457200" rtl="0" algn="l">
              <a:spcBef>
                <a:spcPts val="0"/>
              </a:spcBef>
              <a:spcAft>
                <a:spcPts val="0"/>
              </a:spcAft>
              <a:buSzPts val="1100"/>
              <a:buAutoNum type="arabicPeriod"/>
            </a:pPr>
            <a:r>
              <a:rPr lang="en" sz="1100"/>
              <a:t>Model </a:t>
            </a:r>
            <a:r>
              <a:rPr lang="en" sz="1100"/>
              <a:t>evaluation.</a:t>
            </a:r>
            <a:endParaRPr sz="1100"/>
          </a:p>
          <a:p>
            <a:pPr indent="-298450" lvl="0" marL="457200" rtl="0" algn="l">
              <a:spcBef>
                <a:spcPts val="0"/>
              </a:spcBef>
              <a:spcAft>
                <a:spcPts val="0"/>
              </a:spcAft>
              <a:buSzPts val="1100"/>
              <a:buAutoNum type="arabicPeriod"/>
            </a:pPr>
            <a:r>
              <a:rPr lang="en" sz="1100"/>
              <a:t>Implementation.</a:t>
            </a:r>
            <a:endParaRPr sz="1100"/>
          </a:p>
          <a:p>
            <a:pPr indent="-298450" lvl="0" marL="457200" rtl="0" algn="l">
              <a:spcBef>
                <a:spcPts val="0"/>
              </a:spcBef>
              <a:spcAft>
                <a:spcPts val="0"/>
              </a:spcAft>
              <a:buSzPts val="1100"/>
              <a:buAutoNum type="arabicPeriod"/>
            </a:pPr>
            <a:r>
              <a:rPr lang="en" sz="1100"/>
              <a:t>Result.</a:t>
            </a:r>
            <a:endParaRPr sz="1100"/>
          </a:p>
          <a:p>
            <a:pPr indent="-298450" lvl="0" marL="457200" rtl="0" algn="l">
              <a:spcBef>
                <a:spcPts val="0"/>
              </a:spcBef>
              <a:spcAft>
                <a:spcPts val="0"/>
              </a:spcAft>
              <a:buSzPts val="1100"/>
              <a:buAutoNum type="arabicPeriod"/>
            </a:pPr>
            <a:r>
              <a:rPr lang="en" sz="1100"/>
              <a:t>Create website for real time analysis.</a:t>
            </a:r>
            <a:endParaRPr sz="1100"/>
          </a:p>
        </p:txBody>
      </p:sp>
      <p:pic>
        <p:nvPicPr>
          <p:cNvPr id="240" name="Google Shape;240;p30"/>
          <p:cNvPicPr preferRelativeResize="0"/>
          <p:nvPr/>
        </p:nvPicPr>
        <p:blipFill>
          <a:blip r:embed="rId3">
            <a:alphaModFix/>
          </a:blip>
          <a:stretch>
            <a:fillRect/>
          </a:stretch>
        </p:blipFill>
        <p:spPr>
          <a:xfrm>
            <a:off x="5294700" y="1164775"/>
            <a:ext cx="3041700" cy="34593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Data Pre-Processing</a:t>
            </a:r>
            <a:endParaRPr b="1"/>
          </a:p>
        </p:txBody>
      </p:sp>
      <p:sp>
        <p:nvSpPr>
          <p:cNvPr id="246" name="Google Shape;246;p3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400">
                <a:highlight>
                  <a:schemeClr val="dk1"/>
                </a:highlight>
              </a:rPr>
              <a:t>The data pre-processing has occurred in three stages-</a:t>
            </a:r>
            <a:endParaRPr sz="1400">
              <a:highlight>
                <a:schemeClr val="dk1"/>
              </a:highlight>
            </a:endParaRPr>
          </a:p>
          <a:p>
            <a:pPr indent="0" lvl="0" marL="0" rtl="0" algn="l">
              <a:lnSpc>
                <a:spcPct val="150000"/>
              </a:lnSpc>
              <a:spcBef>
                <a:spcPts val="0"/>
              </a:spcBef>
              <a:spcAft>
                <a:spcPts val="0"/>
              </a:spcAft>
              <a:buNone/>
            </a:pPr>
            <a:r>
              <a:t/>
            </a:r>
            <a:endParaRPr sz="1400">
              <a:highlight>
                <a:schemeClr val="dk1"/>
              </a:highlight>
            </a:endParaRPr>
          </a:p>
          <a:p>
            <a:pPr indent="-317500" lvl="0" marL="457200" rtl="0" algn="l">
              <a:lnSpc>
                <a:spcPct val="150000"/>
              </a:lnSpc>
              <a:spcBef>
                <a:spcPts val="0"/>
              </a:spcBef>
              <a:spcAft>
                <a:spcPts val="0"/>
              </a:spcAft>
              <a:buSzPts val="1400"/>
              <a:buChar char="●"/>
            </a:pPr>
            <a:r>
              <a:rPr b="1" lang="en" sz="1400">
                <a:highlight>
                  <a:schemeClr val="dk1"/>
                </a:highlight>
              </a:rPr>
              <a:t>Noise removal:</a:t>
            </a:r>
            <a:r>
              <a:rPr lang="en" sz="1400">
                <a:highlight>
                  <a:schemeClr val="dk1"/>
                </a:highlight>
              </a:rPr>
              <a:t> </a:t>
            </a:r>
            <a:r>
              <a:rPr lang="en" sz="1400"/>
              <a:t>In this part we remove the Stopwords from the text.</a:t>
            </a:r>
            <a:endParaRPr sz="1400"/>
          </a:p>
          <a:p>
            <a:pPr indent="-317500" lvl="0" marL="457200" rtl="0" algn="l">
              <a:lnSpc>
                <a:spcPct val="150000"/>
              </a:lnSpc>
              <a:spcBef>
                <a:spcPts val="0"/>
              </a:spcBef>
              <a:spcAft>
                <a:spcPts val="0"/>
              </a:spcAft>
              <a:buSzPts val="1400"/>
              <a:buChar char="●"/>
            </a:pPr>
            <a:r>
              <a:rPr b="1" lang="en" sz="1400">
                <a:highlight>
                  <a:schemeClr val="dk1"/>
                </a:highlight>
              </a:rPr>
              <a:t>Data cleaning:</a:t>
            </a:r>
            <a:r>
              <a:rPr lang="en" sz="1400">
                <a:highlight>
                  <a:schemeClr val="dk1"/>
                </a:highlight>
              </a:rPr>
              <a:t> </a:t>
            </a:r>
            <a:r>
              <a:rPr lang="en" sz="1400"/>
              <a:t>In this part we remove the special characters from the text and convert the data into lowercase letters.</a:t>
            </a:r>
            <a:endParaRPr sz="1400">
              <a:highlight>
                <a:schemeClr val="dk1"/>
              </a:highlight>
            </a:endParaRPr>
          </a:p>
          <a:p>
            <a:pPr indent="-317500" lvl="0" marL="457200" rtl="0" algn="l">
              <a:lnSpc>
                <a:spcPct val="150000"/>
              </a:lnSpc>
              <a:spcBef>
                <a:spcPts val="0"/>
              </a:spcBef>
              <a:spcAft>
                <a:spcPts val="0"/>
              </a:spcAft>
              <a:buSzPts val="1400"/>
              <a:buChar char="●"/>
            </a:pPr>
            <a:r>
              <a:rPr b="1" lang="en" sz="1400">
                <a:highlight>
                  <a:schemeClr val="dk1"/>
                </a:highlight>
              </a:rPr>
              <a:t>Tokenization:</a:t>
            </a:r>
            <a:r>
              <a:rPr lang="en" sz="1400">
                <a:highlight>
                  <a:schemeClr val="dk1"/>
                </a:highlight>
              </a:rPr>
              <a:t> </a:t>
            </a:r>
            <a:r>
              <a:rPr lang="en" sz="1400"/>
              <a:t>Tokenization can separate words from sentences and allows algorithms to identify offensive terms easily.</a:t>
            </a:r>
            <a:endParaRPr sz="1400">
              <a:highlight>
                <a:schemeClr val="dk1"/>
              </a:highlight>
            </a:endParaRPr>
          </a:p>
          <a:p>
            <a:pPr indent="0" lvl="0" marL="0" rtl="0" algn="l">
              <a:spcBef>
                <a:spcPts val="0"/>
              </a:spcBef>
              <a:spcAft>
                <a:spcPts val="1200"/>
              </a:spcAft>
              <a:buNone/>
            </a:pPr>
            <a:r>
              <a:t/>
            </a:r>
            <a:endParaRPr sz="1400">
              <a:highlight>
                <a:schemeClr val="dk1"/>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600"/>
              <a:t>Conclusion</a:t>
            </a:r>
            <a:endParaRPr b="1" sz="2600"/>
          </a:p>
        </p:txBody>
      </p:sp>
      <p:sp>
        <p:nvSpPr>
          <p:cNvPr id="252" name="Google Shape;252;p3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highlight>
                  <a:schemeClr val="dk1"/>
                </a:highlight>
              </a:rPr>
              <a:t>I</a:t>
            </a:r>
            <a:r>
              <a:rPr lang="en" sz="1400">
                <a:highlight>
                  <a:schemeClr val="dk1"/>
                </a:highlight>
              </a:rPr>
              <a:t>n conclusion, the use of machine learning and deep learning models for multilingual hate speech detection has shown promise in effectively identifying and classifying hate speech in different languages. Deep learning models, such as CNNs and LSTMs, have demonstrated superior performance compared to traditional machine learning models. Large datasets containing hate speech examples in multiple languages are crucial for training these models. The process involves data preprocessing, tokenization, vectorization, and fine-tuning model parameters. These models have the potential to contri</a:t>
            </a:r>
            <a:r>
              <a:rPr lang="en" sz="1400">
                <a:highlight>
                  <a:schemeClr val="dk1"/>
                </a:highlight>
              </a:rPr>
              <a:t>bute to safer online environments by mitigating the impact of hate speech.</a:t>
            </a:r>
            <a:endParaRPr sz="1400">
              <a:highlight>
                <a:schemeClr val="dk1"/>
              </a:highlight>
            </a:endParaRPr>
          </a:p>
          <a:p>
            <a:pPr indent="0" lvl="0" marL="0" rtl="0" algn="l">
              <a:spcBef>
                <a:spcPts val="0"/>
              </a:spcBef>
              <a:spcAft>
                <a:spcPts val="0"/>
              </a:spcAft>
              <a:buNone/>
            </a:pPr>
            <a:r>
              <a:t/>
            </a:r>
            <a:endParaRPr sz="1400">
              <a:highlight>
                <a:schemeClr val="dk1"/>
              </a:highlight>
            </a:endParaRPr>
          </a:p>
          <a:p>
            <a:pPr indent="0" lvl="0" marL="0" rtl="0" algn="l">
              <a:spcBef>
                <a:spcPts val="0"/>
              </a:spcBef>
              <a:spcAft>
                <a:spcPts val="1200"/>
              </a:spcAft>
              <a:buNone/>
            </a:pPr>
            <a:r>
              <a:t/>
            </a:r>
            <a:endParaRPr sz="1700">
              <a:highlight>
                <a:schemeClr val="dk1"/>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3"/>
          <p:cNvSpPr txBox="1"/>
          <p:nvPr>
            <p:ph type="ctrTitle"/>
          </p:nvPr>
        </p:nvSpPr>
        <p:spPr>
          <a:xfrm>
            <a:off x="3833775"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b="1" lang="en" sz="4900"/>
              <a:t>Thank You</a:t>
            </a:r>
            <a:endParaRPr b="1" sz="49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