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Default Extension="gif" ContentType="image/gif"/>
  <Default Extension="jpg" ContentType="image/jpeg"/>
  <Default Extension="jpeg" ContentType="image/jpeg"/>
  <Default Extension="png" ContentType="image/png"/>
  <Default Extension="xlsx" ContentType="application/vnd.openxmlformats-officedocument.spreadsheetml.sheet"/>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lastView="sldView">
  <p:slideViewPr>
    <p:cSldViewPr>
      <p:cViewPr>
        <p:scale>
          <a:sx d="100" n="100"/>
          <a:sy d="100" n="100"/>
        </p:scale>
        <p:origin x="0" y="0"/>
      </p:cViewPr>
    </p:cSldViewPr>
  </p:slide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1.PhpPresentationReaderPpt2007BkgdKlCcD"/>
</Relationships>

</file>

<file path=ppt/slideLayouts/_rels/slideLayout2.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2.PhpPresentationReaderPpt2007BkghAdNhD"/>
</Relationships>

</file>

<file path=ppt/slideLayouts/_rels/slideLayout3.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3.PhpPresentationReaderPpt2007BkgnBGAkD"/>
</Relationships>

</file>

<file path=ppt/slideLayouts/_rels/slideLayout4.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4.PhpPresentationReaderPpt2007BkgLnpAmD"/>
</Relationships>

</file>

<file path=ppt/slideLayouts/_rels/slideLayout5.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5.PhpPresentationReaderPpt2007BkgHCJcoD"/>
</Relationships>

</file>

<file path=ppt/slideLayouts/_rels/slideLayout6.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6.PhpPresentationReaderPpt2007BkgPkGiBE"/>
</Relationships>

</file>

<file path=ppt/slideLayouts/_rels/slideLayout7.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7.PhpPresentationReaderPpt2007BkgfMJNEE"/>
</Relationships>

</file>

<file path=ppt/slideLayouts/_rels/slideLayout8.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8.PhpPresentationReaderPpt2007BkgoGmLGE"/>
</Relationships>

</file>

<file path=ppt/slideLayouts/_rels/slideLayout9.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9.PhpPresentationReaderPpt2007BkgAnbaJE"/>
</Relationships>

</file>

<file path=ppt/slideLayouts/_rels/slideLayout10.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10.PhpPresentationReaderPpt2007BkgMgjlLE"/>
</Relationships>

</file>

<file path=ppt/slideLayouts/_rels/slideLayout11.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11.PhpPresentationReaderPpt2007BkgAoGgNE"/>
</Relationships>

</file>

<file path=ppt/slideLayouts/_rels/slideLayout12.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background_12.PhpPresentationReaderPpt2007BkgEaLfPE"/>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AND_BODY">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PTION_ONLY_3">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TITLE_AND_DESCRIPTION_1_1_3">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1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_TITLE_AND_DESCRIPTION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_TITLE_AND_DESCRIPTION_1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APTION_ONLY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PTION_ONLY_1_1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_TITLE_AND_DESCRIPTION_1_3">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_1_1_2_1">
    <p:bg>
      <p:bgPr>
        <a:blipFill>
          <a:blip r:embed="rId2"/>
          <a:stretch>
            <a:fillRect/>
          </a:stretch>
        </a:blip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633"/>
        </a:solidFill>
        <a:effectLst/>
      </p:bgPr>
    </p:bg>
    <p:spTree>
      <p:nvGrpSpPr>
        <p:cNvPr id="1" name=""/>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427449944" r:id="rId1"/>
    <p:sldLayoutId id="2427449945" r:id="rId2"/>
    <p:sldLayoutId id="2427449946" r:id="rId3"/>
    <p:sldLayoutId id="2427449947" r:id="rId4"/>
    <p:sldLayoutId id="2427449948" r:id="rId5"/>
    <p:sldLayoutId id="2427449949" r:id="rId6"/>
    <p:sldLayoutId id="2427449950" r:id="rId7"/>
    <p:sldLayoutId id="2427449951" r:id="rId8"/>
    <p:sldLayoutId id="2427449952" r:id="rId9"/>
    <p:sldLayoutId id="2427449953" r:id="rId10"/>
    <p:sldLayoutId id="2427449954" r:id="rId11"/>
    <p:sldLayoutId id="2427449955" r:id="rId12"/>
  </p:sldLayoutIdLst>
  <p:txStyles>
    <p:title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titleStyle>
    <p:body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bodyStyle>
    <p:other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9.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2.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543050"/>
          <a:ext cx="8229600" cy="3143250"/>
          <a:chOff x="914400" y="1543050"/>
          <a:chExt cx="8229600" cy="3143250"/>
        </a:xfrm>
      </p:grpSpPr>
      <p:sp>
        <p:nvSpPr>
          <p:cNvPr id="2" name=""/>
          <p:cNvSpPr txBox="1"/>
          <p:nvPr/>
        </p:nvSpPr>
        <p:spPr>
          <a:xfrm>
            <a:off x="1828800" y="1543050"/>
            <a:ext cx="5486400" cy="114300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4000" spc="0" u="none" cap="none">
                <a:solidFill>
                  <a:srgbClr val="FFFFFF">
                    <a:alpha val="100000"/>
                  </a:srgbClr>
                </a:solidFill>
                <a:latin typeface="Calibri"/>
              </a:rPr>
              <a:t><![CDATA[Bilingual Hate Speech Detection]]></a:t>
            </a:r>
          </a:p>
        </p:txBody>
      </p:sp>
      <p:sp>
        <p:nvSpPr>
          <p:cNvPr id="3" name=""/>
          <p:cNvSpPr txBox="1"/>
          <p:nvPr/>
        </p:nvSpPr>
        <p:spPr>
          <a:xfrm>
            <a:off x="914400" y="2571750"/>
            <a:ext cx="7315200" cy="57150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2000" spc="0" u="none" cap="none">
                <a:solidFill>
                  <a:srgbClr val="ffab40">
                    <a:alpha val="100000"/>
                  </a:srgbClr>
                </a:solidFill>
                <a:latin typeface="Calibri"/>
              </a:rPr>
              <a:t><![CDATA[A Deep Learning Approach Using Bengali and English Datase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5153025"/>
          <a:chOff x="914400" y="1028700"/>
          <a:chExt cx="8229600" cy="5153025"/>
        </a:xfrm>
      </p:grpSpPr>
      <p:sp>
        <p:nvSpPr>
          <p:cNvPr id="2" name=""/>
          <p:cNvSpPr txBox="1"/>
          <p:nvPr/>
        </p:nvSpPr>
        <p:spPr>
          <a:xfrm>
            <a:off x="1828800" y="1028700"/>
            <a:ext cx="5486400" cy="57150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4000" spc="0" u="none" cap="none">
                <a:solidFill>
                  <a:srgbClr val="ffab40">
                    <a:alpha val="100000"/>
                  </a:srgbClr>
                </a:solidFill>
                <a:latin typeface="Calibri"/>
              </a:rPr>
              <a:t><![CDATA[Introduction]]></a:t>
            </a:r>
          </a:p>
        </p:txBody>
      </p:sp>
      <p:sp>
        <p:nvSpPr>
          <p:cNvPr id="3" name=""/>
          <p:cNvSpPr txBox="1"/>
          <p:nvPr/>
        </p:nvSpPr>
        <p:spPr>
          <a:xfrm>
            <a:off x="914400" y="1800225"/>
            <a:ext cx="7315200" cy="3352800"/>
          </a:xfrm>
          <a:prstGeom prst="rect">
            <a:avLst/>
          </a:prstGeom>
          <a:noFill/>
        </p:spPr>
        <p:txBody>
          <a:bodyPr anchor="t" anchorCtr="0" rtlCol="0" vert="horz" bIns="45720" lIns="91440" rIns="91440" tIns="45720">
            <a:spAutoFit/>
          </a:bodyPr>
          <a:lstStyle/>
          <a:p>
            <a:pPr algn="ctr" rtl="0" fontAlgn="t" marL="0" marR="0" indent="0" lvl="0">
              <a:lnSpc>
                <a:spcPct val="120000"/>
              </a:lnSpc>
              <a:spcBef>
                <a:spcPts val="0"/>
              </a:spcBef>
              <a:spcAft>
                <a:spcPts val="0"/>
              </a:spcAft>
            </a:pPr>
            <a:r>
              <a:rPr lang="en-US" b="1" strike="noStrike" sz="2800" spc="0" u="none" cap="none">
                <a:solidFill>
                  <a:srgbClr val="FFFFFF">
                    <a:alpha val="100000"/>
                  </a:srgbClr>
                </a:solidFill>
                <a:latin typeface="Calibri"/>
              </a:rPr>
              <a:t><![CDATA[With the increasing rate of hate speech on social media, this study presents a solution to regulate or prevent the detrimental outcomes suffered by individuals due to such speech. It focuses on deep learning models to identify and combat hate speech effectiv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Research Contribution]]></a:t>
            </a:r>
          </a:p>
        </p:txBody>
      </p:sp>
      <p:sp>
        <p:nvSpPr>
          <p:cNvPr id="3" name=""/>
          <p:cNvSpPr txBox="1"/>
          <p:nvPr/>
        </p:nvSpPr>
        <p:spPr>
          <a:xfrm>
            <a:off x="914400" y="1800225"/>
            <a:ext cx="7315200" cy="18288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Collected English and Bengali language dataset from Kaggle.
Combined English and Bengali datasets for multilingual hate speech detection.
Data pre-processing through tokenization.
Utilized the BERT model for both langu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933825"/>
          <a:chOff x="914400" y="1028700"/>
          <a:chExt cx="8229600" cy="39338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Thesis Organization]]></a:t>
            </a:r>
          </a:p>
        </p:txBody>
      </p:sp>
      <p:sp>
        <p:nvSpPr>
          <p:cNvPr id="3" name=""/>
          <p:cNvSpPr txBox="1"/>
          <p:nvPr/>
        </p:nvSpPr>
        <p:spPr>
          <a:xfrm>
            <a:off x="914400" y="1800225"/>
            <a:ext cx="7315200" cy="21336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Chapter 2: Background and literature review of Multilingual Hate Speech Detection.
Chapter 3: Proposed architecture and methodologies.
Chapter 4: Tests and evaluations of the methods.
Chapter 5: Discussion on Standards, Impacts, Ethics, Challenges, and Constraints.
Chapter 6: Conclusion of the re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238625"/>
          <a:chOff x="914400" y="1028700"/>
          <a:chExt cx="8229600" cy="42386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Methods for Detection]]></a:t>
            </a:r>
          </a:p>
        </p:txBody>
      </p:sp>
      <p:sp>
        <p:nvSpPr>
          <p:cNvPr id="3" name=""/>
          <p:cNvSpPr txBox="1"/>
          <p:nvPr/>
        </p:nvSpPr>
        <p:spPr>
          <a:xfrm>
            <a:off x="914400" y="1800225"/>
            <a:ext cx="7315200" cy="24384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Utilizes a multilingual hate speech detection web application.
Employs deep learning algorithms such as LSTM and BERT.
Focuses on training models with labeled datasets from various languages.
Pre-trained models can be adapted for specific hate speech detection tas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Data Processing Steps]]></a:t>
            </a:r>
          </a:p>
        </p:txBody>
      </p:sp>
      <p:sp>
        <p:nvSpPr>
          <p:cNvPr id="3" name=""/>
          <p:cNvSpPr txBox="1"/>
          <p:nvPr/>
        </p:nvSpPr>
        <p:spPr>
          <a:xfrm>
            <a:off x="914400" y="1800225"/>
            <a:ext cx="7315200" cy="18288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Load English and Bangla datasets.
Translate Bangla dataset to English using machine translation models.
Combine datasets into a unified DataFrame.
Perform text preprocessing including cleaning and valid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Model Evaluation]]></a:t>
            </a:r>
          </a:p>
        </p:txBody>
      </p:sp>
      <p:sp>
        <p:nvSpPr>
          <p:cNvPr id="3" name=""/>
          <p:cNvSpPr txBox="1"/>
          <p:nvPr/>
        </p:nvSpPr>
        <p:spPr>
          <a:xfrm>
            <a:off x="914400" y="1800225"/>
            <a:ext cx="7315200" cy="18288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Confusion matrices used to understand true positives, false positives, etc.
Metrics derived include accuracy, precision, recall, and F1 score.
BERT demonstrated high accuracy compared to LSTM and other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324225"/>
          <a:chOff x="914400" y="1028700"/>
          <a:chExt cx="8229600" cy="3324225"/>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Results]]></a:t>
            </a:r>
          </a:p>
        </p:txBody>
      </p:sp>
      <p:sp>
        <p:nvSpPr>
          <p:cNvPr id="3" name=""/>
          <p:cNvSpPr txBox="1"/>
          <p:nvPr/>
        </p:nvSpPr>
        <p:spPr>
          <a:xfrm>
            <a:off x="914400" y="1800225"/>
            <a:ext cx="7315200" cy="15240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none" cap="none">
                <a:solidFill>
                  <a:srgbClr val="FFFFFF">
                    <a:alpha val="100000"/>
                  </a:srgbClr>
                </a:solidFill>
                <a:latin typeface="Calibri"/>
              </a:rPr>
              <a:t><![CDATA[BERT achieved highest accuracy of 91%.
RoBERTa closely followed with minimal misclassifications.
LSTM provided the lowest reliability among the models evalu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676775"/>
          <a:chOff x="914400" y="1028700"/>
          <a:chExt cx="8229600" cy="4676775"/>
        </a:xfrm>
      </p:grpSpPr>
      <p:sp>
        <p:nvSpPr>
          <p:cNvPr id="2" name=""/>
          <p:cNvSpPr txBox="1"/>
          <p:nvPr/>
        </p:nvSpPr>
        <p:spPr>
          <a:xfrm>
            <a:off x="1828800" y="1028700"/>
            <a:ext cx="5486400" cy="57150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4000" spc="0" u="none" cap="none">
                <a:solidFill>
                  <a:srgbClr val="ffab40">
                    <a:alpha val="100000"/>
                  </a:srgbClr>
                </a:solidFill>
                <a:latin typeface="Calibri"/>
              </a:rPr>
              <a:t><![CDATA[Conclusion]]></a:t>
            </a:r>
          </a:p>
        </p:txBody>
      </p:sp>
      <p:sp>
        <p:nvSpPr>
          <p:cNvPr id="3" name=""/>
          <p:cNvSpPr txBox="1"/>
          <p:nvPr/>
        </p:nvSpPr>
        <p:spPr>
          <a:xfrm>
            <a:off x="914400" y="1800225"/>
            <a:ext cx="7315200" cy="2876550"/>
          </a:xfrm>
          <a:prstGeom prst="rect">
            <a:avLst/>
          </a:prstGeom>
          <a:noFill/>
        </p:spPr>
        <p:txBody>
          <a:bodyPr anchor="t" anchorCtr="0" rtlCol="0" vert="horz" bIns="45720" lIns="91440" rIns="91440" tIns="45720">
            <a:spAutoFit/>
          </a:bodyPr>
          <a:lstStyle/>
          <a:p>
            <a:pPr algn="ctr" rtl="0" fontAlgn="t" marL="0" marR="0" indent="0" lvl="0">
              <a:lnSpc>
                <a:spcPct val="120000"/>
              </a:lnSpc>
              <a:spcBef>
                <a:spcPts val="0"/>
              </a:spcBef>
              <a:spcAft>
                <a:spcPts val="0"/>
              </a:spcAft>
            </a:pPr>
            <a:r>
              <a:rPr lang="en-US" b="1" strike="noStrike" sz="2800" spc="0" u="none" cap="none">
                <a:solidFill>
                  <a:srgbClr val="FFFFFF">
                    <a:alpha val="100000"/>
                  </a:srgbClr>
                </a:solidFill>
                <a:latin typeface="Calibri"/>
              </a:rPr>
              <a:t><![CDATA[This research illustrates the critical need for effective hate speech detection models using deep learning techniques. Continued improvement in model accuracy and dataset diversity is essential for future efforts in this are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2552700"/>
          <a:chOff x="914400" y="1028700"/>
          <a:chExt cx="8229600" cy="2552700"/>
        </a:xfrm>
      </p:grpSpPr>
      <p:sp>
        <p:nvSpPr>
          <p:cNvPr id="2" name=""/>
          <p:cNvSpPr txBox="1"/>
          <p:nvPr/>
        </p:nvSpPr>
        <p:spPr>
          <a:xfrm>
            <a:off x="914400" y="1028700"/>
            <a:ext cx="7315200" cy="400050"/>
          </a:xfrm>
          <a:prstGeom prst="rect">
            <a:avLst/>
          </a:prstGeom>
          <a:noFill/>
        </p:spPr>
        <p:txBody>
          <a:bodyPr anchor="t" anchorCtr="0" rtlCol="0" vert="horz" bIns="45720" lIns="91440" rIns="91440" tIns="45720">
            <a:spAutoFit/>
          </a:bodyPr>
          <a:lstStyle/>
          <a:p>
            <a:pPr algn="l" rtl="0" fontAlgn="t" marL="0" marR="0" indent="0" lvl="0">
              <a:lnSpc>
                <a:spcPct val="100000"/>
              </a:lnSpc>
              <a:spcBef>
                <a:spcPts val="0"/>
              </a:spcBef>
              <a:spcAft>
                <a:spcPts val="0"/>
              </a:spcAft>
            </a:pPr>
            <a:r>
              <a:rPr lang="en-US" b="1" strike="noStrike" sz="2800" spc="0" u="none" cap="none">
                <a:solidFill>
                  <a:srgbClr val="ffab40">
                    <a:alpha val="100000"/>
                  </a:srgbClr>
                </a:solidFill>
                <a:latin typeface="Calibri"/>
              </a:rPr>
              <a:t><![CDATA[References]]></a:t>
            </a:r>
          </a:p>
        </p:txBody>
      </p:sp>
      <p:sp>
        <p:nvSpPr>
          <p:cNvPr id="3" name=""/>
          <p:cNvSpPr txBox="1"/>
          <p:nvPr/>
        </p:nvSpPr>
        <p:spPr>
          <a:xfrm>
            <a:off x="914400" y="1543050"/>
            <a:ext cx="7315200" cy="1009650"/>
          </a:xfrm>
          <a:prstGeom prst="rect">
            <a:avLst/>
          </a:prstGeom>
          <a:noFill/>
        </p:spPr>
        <p:txBody>
          <a:bodyPr anchorCtr="0" rtlCol="0" vert="horz" bIns="45720" lIns="91440" rIns="91440" tIns="45720">
            <a:spAutoFit/>
          </a:bodyPr>
          <a:lstStyle/>
          <a:p>
            <a:pPr algn="l" rtl="0" fontAlgn="base" marL="0" marR="0" indent="0" lvl="0">
              <a:lnSpc>
                <a:spcPct val="120000"/>
              </a:lnSpc>
              <a:spcBef>
                <a:spcPts val="0"/>
              </a:spcBef>
              <a:spcAft>
                <a:spcPts val="0"/>
              </a:spcAft>
              <a:buClr>
                <a:srgbClr val="FFFFFF">
                  <a:alpha val="100000"/>
                </a:srgbClr>
              </a:buClr>
              <a:buFont typeface="Calibri"/>
              <a:buChar char="-"/>
            </a:pPr>
            <a:r>
              <a:rPr lang="en-US" b="1" strike="noStrike" sz="1400" spc="0" u="none" cap="none">
                <a:solidFill>
                  <a:srgbClr val="FFFFFF">
                    <a:alpha val="100000"/>
                  </a:srgbClr>
                </a:solidFill>
                <a:latin typeface="Calibri"/>
              </a:rPr>
              <a:t><![CDATA[ Ahamed Nayim, M., Hossain Niha, S., Sarkar, B. S., Hossain, M. R., Fatema, K. (2024). A deep dive into bilingual hate speech detection]]></a:t>
            </a:r>
          </a:p>
          <a:p>
            <a:pPr algn="l" rtl="0" fontAlgn="base" marL="0" marR="0" indent="0" lvl="0">
              <a:lnSpc>
                <a:spcPct val="120000"/>
              </a:lnSpc>
              <a:spcBef>
                <a:spcPts val="0"/>
              </a:spcBef>
              <a:spcAft>
                <a:spcPts val="0"/>
              </a:spcAft>
              <a:buClr>
                <a:srgbClr val="FFFFFF">
                  <a:alpha val="100000"/>
                </a:srgbClr>
              </a:buClr>
              <a:buFont typeface="Calibri"/>
              <a:buChar char="-"/>
            </a:pPr>
            <a:r>
              <a:rPr lang="en-US" b="1" strike="noStrike" sz="1400" spc="0" u="none" cap="none">
                <a:solidFill>
                  <a:srgbClr val="FFFFFF">
                    <a:alpha val="100000"/>
                  </a:srgbClr>
                </a:solidFill>
                <a:latin typeface="Calibri"/>
              </a:rPr>
              <a:t><![CDATA[ Various studies and methodologies on multilingual hate speech detection using BERT and other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828800" y="1028700"/>
          <a:ext cx="7315200" cy="3581400"/>
          <a:chOff x="1828800" y="1028700"/>
          <a:chExt cx="7315200" cy="3581400"/>
        </a:xfrm>
      </p:grpSpPr>
      <p:sp>
        <p:nvSpPr>
          <p:cNvPr id="2" name=""/>
          <p:cNvSpPr txBox="1"/>
          <p:nvPr/>
        </p:nvSpPr>
        <p:spPr>
          <a:xfrm>
            <a:off x="1828800" y="1028700"/>
            <a:ext cx="5486400" cy="85725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6000" spc="0" u="none" cap="none">
                <a:solidFill>
                  <a:srgbClr val="FFFFFF">
                    <a:alpha val="100000"/>
                  </a:srgbClr>
                </a:solidFill>
                <a:latin typeface="Calibri"/>
              </a:rPr>
              <a:t><![CDATA[Thank you!]]></a:t>
            </a:r>
          </a:p>
        </p:txBody>
      </p:sp>
      <p:sp>
        <p:nvSpPr>
          <p:cNvPr id="3" name=""/>
          <p:cNvSpPr txBox="1"/>
          <p:nvPr/>
        </p:nvSpPr>
        <p:spPr>
          <a:xfrm>
            <a:off x="1828800" y="2057400"/>
            <a:ext cx="5486400" cy="1524000"/>
          </a:xfrm>
          <a:prstGeom prst="rect">
            <a:avLst/>
          </a:prstGeom>
          <a:noFill/>
        </p:spPr>
        <p:txBody>
          <a:bodyPr anchor="t" anchorCtr="0" rtlCol="0" vert="horz" bIns="45720" lIns="91440" rIns="91440" tIns="45720">
            <a:spAutoFit/>
          </a:bodyPr>
          <a:lstStyle/>
          <a:p>
            <a:pPr algn="ctr" rtl="0" fontAlgn="t" marL="0" marR="0" indent="0" lvl="0">
              <a:lnSpc>
                <a:spcPct val="100000"/>
              </a:lnSpc>
              <a:spcBef>
                <a:spcPts val="0"/>
              </a:spcBef>
              <a:spcAft>
                <a:spcPts val="0"/>
              </a:spcAft>
            </a:pPr>
            <a:r>
              <a:rPr lang="en-US" b="1" strike="noStrike" sz="2000" spc="0" u="none" cap="none">
                <a:solidFill>
                  <a:srgbClr val="ffab40">
                    <a:alpha val="100000"/>
                  </a:srgbClr>
                </a:solidFill>
                <a:latin typeface="Calibri"/>
              </a:rPr>
              <a:t><![CDATA[Do you have any questions?]]></a:t>
            </a:r>
          </a:p>
          <a:p>
            <a:pPr algn="ctr" rtl="0" fontAlgn="t" marL="0" marR="0" indent="0" lvl="0">
              <a:lnSpc>
                <a:spcPct val="100000"/>
              </a:lnSpc>
              <a:spcBef>
                <a:spcPts val="0"/>
              </a:spcBef>
              <a:spcAft>
                <a:spcPts val="0"/>
              </a:spcAft>
            </a:pPr>
            <a:r>
              <a:rPr lang="en-US" strike="noStrike" sz="2000" spc="0" u="none" cap="none">
                <a:solidFill>
                  <a:srgbClr val="ffab40">
                    <a:alpha val="100000"/>
                  </a:srgbClr>
                </a:solidFill>
                <a:latin typeface="Calibri"/>
              </a:rPr>
              <a:t><![CDATA[youremail@email.com
+91 620 421 838
www.yourwebsite.com
@yourusername]]></a:t>
            </a:r>
          </a:p>
        </p:txBody>
      </p:sp>
    </p:spTree>
  </p:cSld>
  <p:clrMapOvr>
    <a:masterClrMapping/>
  </p:clrMapOvr>
</p:sld>
</file>

<file path=ppt/theme/theme1.xml><?xml version="1.0" encoding="utf-8"?>
<a:theme xmlns:a="http://schemas.openxmlformats.org/drawingml/2006/main" name="Theme68">
  <a:themeElements>
    <a:clrScheme name="Theme68">
      <a:dk1>
        <a:sysClr val="windowText" lastClr="001633"/>
      </a:dk1>
      <a:lt1>
        <a:sysClr val="window" lastClr="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Theme68">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6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11</Slides>
  <ScaleCrop>false</ScaleCrop>
  <HeadingPairs>
    <vt:vector size="4" baseType="variant">
      <vt:variant>
        <vt:lpstr>Theme</vt:lpstr>
      </vt:variant>
      <vt:variant>
        <vt:i4>1</vt:i4>
      </vt:variant>
      <vt:variant>
        <vt:lpstr>Slide Titles</vt:lpstr>
      </vt:variant>
      <vt:variant>
        <vt:i4>1</vt:i4>
      </vt:variant>
    </vt:vector>
  </HeadingPairs>
  <TitlesOfParts>
    <vt:vector size="1" baseType="lpstr">
      <vt:lpstr>Office Theme</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Unknown Creator</dc:creator>
  <cp:lastModifiedBy>Unknown Creator</cp:lastModifiedBy>
  <dcterms:created xsi:type="dcterms:W3CDTF">2025-02-01T18:14:31Z</dcterms:created>
  <dcterms:modified xsi:type="dcterms:W3CDTF">2025-02-01T18:14:31Z</dcterms:modified>
  <dc:title>Untitled Presentation</dc:title>
  <dc:description/>
  <dc:subject/>
  <cp:keywords/>
  <cp:category/>
  <cp:revision/>
  <cp:contentStatus/>
</cp:coreProperties>
</file>

<file path=docProps/custom.xml><?xml version="1.0" encoding="utf-8"?>
<Properties xmlns="http://schemas.openxmlformats.org/officeDocument/2006/custom-properties" xmlns:vt="http://schemas.openxmlformats.org/officeDocument/2006/docPropsVTypes"/>
</file>